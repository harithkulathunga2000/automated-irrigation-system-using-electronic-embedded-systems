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Poppins Bold" charset="1" panose="00000800000000000000"/>
      <p:regular r:id="rId20"/>
    </p:embeddedFont>
    <p:embeddedFont>
      <p:font typeface="Poppins"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 Id="rId5" Target="../media/image1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9.jpeg" Type="http://schemas.openxmlformats.org/officeDocument/2006/relationships/image"/><Relationship Id="rId5" Target="../media/image2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2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Freeform 2" id="2"/>
          <p:cNvSpPr/>
          <p:nvPr/>
        </p:nvSpPr>
        <p:spPr>
          <a:xfrm flipH="false" flipV="false" rot="0">
            <a:off x="11785830" y="-497732"/>
            <a:ext cx="10946941" cy="8896877"/>
          </a:xfrm>
          <a:custGeom>
            <a:avLst/>
            <a:gdLst/>
            <a:ahLst/>
            <a:cxnLst/>
            <a:rect r="r" b="b" t="t" l="l"/>
            <a:pathLst>
              <a:path h="8896877" w="10946941">
                <a:moveTo>
                  <a:pt x="0" y="0"/>
                </a:moveTo>
                <a:lnTo>
                  <a:pt x="10946940" y="0"/>
                </a:lnTo>
                <a:lnTo>
                  <a:pt x="10946940"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243554" y="-1718684"/>
            <a:ext cx="5643741" cy="4114800"/>
          </a:xfrm>
          <a:custGeom>
            <a:avLst/>
            <a:gdLst/>
            <a:ahLst/>
            <a:cxnLst/>
            <a:rect r="r" b="b" t="t" l="l"/>
            <a:pathLst>
              <a:path h="4114800" w="5643741">
                <a:moveTo>
                  <a:pt x="0" y="0"/>
                </a:moveTo>
                <a:lnTo>
                  <a:pt x="5643740" y="0"/>
                </a:lnTo>
                <a:lnTo>
                  <a:pt x="564374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323401" y="3435985"/>
            <a:ext cx="11641197" cy="3157856"/>
          </a:xfrm>
          <a:prstGeom prst="rect">
            <a:avLst/>
          </a:prstGeom>
        </p:spPr>
        <p:txBody>
          <a:bodyPr anchor="t" rtlCol="false" tIns="0" lIns="0" bIns="0" rIns="0">
            <a:spAutoFit/>
          </a:bodyPr>
          <a:lstStyle/>
          <a:p>
            <a:pPr algn="ctr">
              <a:lnSpc>
                <a:spcPts val="12319"/>
              </a:lnSpc>
            </a:pPr>
            <a:r>
              <a:rPr lang="en-US" b="true" sz="8799" spc="-149">
                <a:solidFill>
                  <a:srgbClr val="FFFFFF"/>
                </a:solidFill>
                <a:latin typeface="Poppins Bold"/>
                <a:ea typeface="Poppins Bold"/>
                <a:cs typeface="Poppins Bold"/>
                <a:sym typeface="Poppins Bold"/>
              </a:rPr>
              <a:t>AUTOMATED IRRIGATION SYSTEM</a:t>
            </a:r>
          </a:p>
        </p:txBody>
      </p:sp>
      <p:sp>
        <p:nvSpPr>
          <p:cNvPr name="TextBox 5" id="5"/>
          <p:cNvSpPr txBox="true"/>
          <p:nvPr/>
        </p:nvSpPr>
        <p:spPr>
          <a:xfrm rot="0">
            <a:off x="13869414" y="7869076"/>
            <a:ext cx="3389886" cy="1804035"/>
          </a:xfrm>
          <a:prstGeom prst="rect">
            <a:avLst/>
          </a:prstGeom>
        </p:spPr>
        <p:txBody>
          <a:bodyPr anchor="t" rtlCol="false" tIns="0" lIns="0" bIns="0" rIns="0">
            <a:spAutoFit/>
          </a:bodyPr>
          <a:lstStyle/>
          <a:p>
            <a:pPr algn="l">
              <a:lnSpc>
                <a:spcPts val="2880"/>
              </a:lnSpc>
            </a:pPr>
            <a:r>
              <a:rPr lang="en-US" sz="1800">
                <a:solidFill>
                  <a:srgbClr val="D9D9D9"/>
                </a:solidFill>
                <a:latin typeface="Poppins"/>
                <a:ea typeface="Poppins"/>
                <a:cs typeface="Poppins"/>
                <a:sym typeface="Poppins"/>
              </a:rPr>
              <a:t>Malith Imantha - s15423</a:t>
            </a:r>
          </a:p>
          <a:p>
            <a:pPr algn="l">
              <a:lnSpc>
                <a:spcPts val="2880"/>
              </a:lnSpc>
            </a:pPr>
            <a:r>
              <a:rPr lang="en-US" sz="1800">
                <a:solidFill>
                  <a:srgbClr val="D9D9D9"/>
                </a:solidFill>
                <a:latin typeface="Poppins"/>
                <a:ea typeface="Poppins"/>
                <a:cs typeface="Poppins"/>
                <a:sym typeface="Poppins"/>
              </a:rPr>
              <a:t>Harith Ayodhya - s15313  </a:t>
            </a:r>
          </a:p>
          <a:p>
            <a:pPr algn="l">
              <a:lnSpc>
                <a:spcPts val="2880"/>
              </a:lnSpc>
            </a:pPr>
            <a:r>
              <a:rPr lang="en-US" sz="1800">
                <a:solidFill>
                  <a:srgbClr val="D9D9D9"/>
                </a:solidFill>
                <a:latin typeface="Poppins"/>
                <a:ea typeface="Poppins"/>
                <a:cs typeface="Poppins"/>
                <a:sym typeface="Poppins"/>
              </a:rPr>
              <a:t>Lakith Navodya - s15432 </a:t>
            </a:r>
          </a:p>
          <a:p>
            <a:pPr algn="l">
              <a:lnSpc>
                <a:spcPts val="2880"/>
              </a:lnSpc>
            </a:pPr>
            <a:r>
              <a:rPr lang="en-US" sz="1800">
                <a:solidFill>
                  <a:srgbClr val="D9D9D9"/>
                </a:solidFill>
                <a:latin typeface="Poppins"/>
                <a:ea typeface="Poppins"/>
                <a:cs typeface="Poppins"/>
                <a:sym typeface="Poppins"/>
              </a:rPr>
              <a:t>Durangi Amasha - s15417 </a:t>
            </a:r>
          </a:p>
          <a:p>
            <a:pPr algn="l">
              <a:lnSpc>
                <a:spcPts val="2880"/>
              </a:lnSpc>
            </a:pPr>
            <a:r>
              <a:rPr lang="en-US" sz="1800">
                <a:solidFill>
                  <a:srgbClr val="D9D9D9"/>
                </a:solidFill>
                <a:latin typeface="Poppins"/>
                <a:ea typeface="Poppins"/>
                <a:cs typeface="Poppins"/>
                <a:sym typeface="Poppins"/>
              </a:rPr>
              <a:t>Dileka Ratnayaka - s15436</a:t>
            </a:r>
          </a:p>
        </p:txBody>
      </p:sp>
      <p:grpSp>
        <p:nvGrpSpPr>
          <p:cNvPr name="Group 6" id="6"/>
          <p:cNvGrpSpPr/>
          <p:nvPr/>
        </p:nvGrpSpPr>
        <p:grpSpPr>
          <a:xfrm rot="0">
            <a:off x="0" y="9673111"/>
            <a:ext cx="2400186" cy="613889"/>
            <a:chOff x="0" y="0"/>
            <a:chExt cx="632148" cy="161683"/>
          </a:xfrm>
        </p:grpSpPr>
        <p:sp>
          <p:nvSpPr>
            <p:cNvPr name="Freeform 7" id="7"/>
            <p:cNvSpPr/>
            <p:nvPr/>
          </p:nvSpPr>
          <p:spPr>
            <a:xfrm flipH="false" flipV="false" rot="0">
              <a:off x="0" y="0"/>
              <a:ext cx="632148" cy="161683"/>
            </a:xfrm>
            <a:custGeom>
              <a:avLst/>
              <a:gdLst/>
              <a:ahLst/>
              <a:cxnLst/>
              <a:rect r="r" b="b" t="t" l="l"/>
              <a:pathLst>
                <a:path h="161683" w="632148">
                  <a:moveTo>
                    <a:pt x="0" y="0"/>
                  </a:moveTo>
                  <a:lnTo>
                    <a:pt x="632148" y="0"/>
                  </a:lnTo>
                  <a:lnTo>
                    <a:pt x="632148" y="161683"/>
                  </a:lnTo>
                  <a:lnTo>
                    <a:pt x="0" y="161683"/>
                  </a:lnTo>
                  <a:close/>
                </a:path>
              </a:pathLst>
            </a:custGeom>
            <a:solidFill>
              <a:srgbClr val="3DCAB1"/>
            </a:solidFill>
          </p:spPr>
        </p:sp>
        <p:sp>
          <p:nvSpPr>
            <p:cNvPr name="TextBox 8" id="8"/>
            <p:cNvSpPr txBox="true"/>
            <p:nvPr/>
          </p:nvSpPr>
          <p:spPr>
            <a:xfrm>
              <a:off x="0" y="-38100"/>
              <a:ext cx="632148" cy="19978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494850" y="9759076"/>
            <a:ext cx="3389886" cy="356235"/>
          </a:xfrm>
          <a:prstGeom prst="rect">
            <a:avLst/>
          </a:prstGeom>
        </p:spPr>
        <p:txBody>
          <a:bodyPr anchor="t" rtlCol="false" tIns="0" lIns="0" bIns="0" rIns="0">
            <a:spAutoFit/>
          </a:bodyPr>
          <a:lstStyle/>
          <a:p>
            <a:pPr algn="ctr">
              <a:lnSpc>
                <a:spcPts val="2880"/>
              </a:lnSpc>
            </a:pPr>
            <a:r>
              <a:rPr lang="en-US" sz="1800">
                <a:solidFill>
                  <a:srgbClr val="071C42"/>
                </a:solidFill>
                <a:latin typeface="Poppins"/>
                <a:ea typeface="Poppins"/>
                <a:cs typeface="Poppins"/>
                <a:sym typeface="Poppins"/>
              </a:rPr>
              <a:t>2023.04.27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4544475"/>
            <a:chOff x="0" y="0"/>
            <a:chExt cx="4816593" cy="1196899"/>
          </a:xfrm>
        </p:grpSpPr>
        <p:sp>
          <p:nvSpPr>
            <p:cNvPr name="Freeform 3" id="3"/>
            <p:cNvSpPr/>
            <p:nvPr/>
          </p:nvSpPr>
          <p:spPr>
            <a:xfrm flipH="false" flipV="false" rot="0">
              <a:off x="0" y="0"/>
              <a:ext cx="4816592" cy="1196899"/>
            </a:xfrm>
            <a:custGeom>
              <a:avLst/>
              <a:gdLst/>
              <a:ahLst/>
              <a:cxnLst/>
              <a:rect r="r" b="b" t="t" l="l"/>
              <a:pathLst>
                <a:path h="1196899" w="4816592">
                  <a:moveTo>
                    <a:pt x="0" y="0"/>
                  </a:moveTo>
                  <a:lnTo>
                    <a:pt x="4816592" y="0"/>
                  </a:lnTo>
                  <a:lnTo>
                    <a:pt x="4816592" y="1196899"/>
                  </a:lnTo>
                  <a:lnTo>
                    <a:pt x="0" y="1196899"/>
                  </a:lnTo>
                  <a:close/>
                </a:path>
              </a:pathLst>
            </a:custGeom>
            <a:solidFill>
              <a:srgbClr val="071C42"/>
            </a:solidFill>
          </p:spPr>
        </p:sp>
        <p:sp>
          <p:nvSpPr>
            <p:cNvPr name="TextBox 4" id="4"/>
            <p:cNvSpPr txBox="true"/>
            <p:nvPr/>
          </p:nvSpPr>
          <p:spPr>
            <a:xfrm>
              <a:off x="0" y="-38100"/>
              <a:ext cx="4816593" cy="123499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125424" y="480302"/>
            <a:ext cx="6267753" cy="5093974"/>
          </a:xfrm>
          <a:custGeom>
            <a:avLst/>
            <a:gdLst/>
            <a:ahLst/>
            <a:cxnLst/>
            <a:rect r="r" b="b" t="t" l="l"/>
            <a:pathLst>
              <a:path h="5093974" w="6267753">
                <a:moveTo>
                  <a:pt x="0" y="0"/>
                </a:moveTo>
                <a:lnTo>
                  <a:pt x="6267752" y="0"/>
                </a:lnTo>
                <a:lnTo>
                  <a:pt x="6267752" y="5093973"/>
                </a:lnTo>
                <a:lnTo>
                  <a:pt x="0" y="5093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4255742"/>
            <a:ext cx="6212838" cy="288733"/>
            <a:chOff x="0" y="0"/>
            <a:chExt cx="1636303" cy="76045"/>
          </a:xfrm>
        </p:grpSpPr>
        <p:sp>
          <p:nvSpPr>
            <p:cNvPr name="Freeform 7" id="7"/>
            <p:cNvSpPr/>
            <p:nvPr/>
          </p:nvSpPr>
          <p:spPr>
            <a:xfrm flipH="false" flipV="false" rot="0">
              <a:off x="0" y="0"/>
              <a:ext cx="1636303" cy="76045"/>
            </a:xfrm>
            <a:custGeom>
              <a:avLst/>
              <a:gdLst/>
              <a:ahLst/>
              <a:cxnLst/>
              <a:rect r="r" b="b" t="t" l="l"/>
              <a:pathLst>
                <a:path h="76045" w="1636303">
                  <a:moveTo>
                    <a:pt x="0" y="0"/>
                  </a:moveTo>
                  <a:lnTo>
                    <a:pt x="1636303" y="0"/>
                  </a:lnTo>
                  <a:lnTo>
                    <a:pt x="1636303" y="76045"/>
                  </a:lnTo>
                  <a:lnTo>
                    <a:pt x="0" y="76045"/>
                  </a:lnTo>
                  <a:close/>
                </a:path>
              </a:pathLst>
            </a:custGeom>
            <a:solidFill>
              <a:srgbClr val="3DCAB1"/>
            </a:solidFill>
          </p:spPr>
        </p:sp>
        <p:sp>
          <p:nvSpPr>
            <p:cNvPr name="TextBox 8" id="8"/>
            <p:cNvSpPr txBox="true"/>
            <p:nvPr/>
          </p:nvSpPr>
          <p:spPr>
            <a:xfrm>
              <a:off x="0" y="-38100"/>
              <a:ext cx="1636303" cy="114145"/>
            </a:xfrm>
            <a:prstGeom prst="rect">
              <a:avLst/>
            </a:prstGeom>
          </p:spPr>
          <p:txBody>
            <a:bodyPr anchor="ctr" rtlCol="false" tIns="50800" lIns="50800" bIns="50800" rIns="50800"/>
            <a:lstStyle/>
            <a:p>
              <a:pPr algn="ctr">
                <a:lnSpc>
                  <a:spcPts val="2659"/>
                </a:lnSpc>
                <a:spcBef>
                  <a:spcPct val="0"/>
                </a:spcBef>
              </a:pPr>
            </a:p>
          </p:txBody>
        </p:sp>
      </p:grpSp>
      <p:sp>
        <p:nvSpPr>
          <p:cNvPr name="AutoShape 9" id="9"/>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10" id="10"/>
          <p:cNvSpPr/>
          <p:nvPr/>
        </p:nvSpPr>
        <p:spPr>
          <a:xfrm flipH="false" flipV="false" rot="0">
            <a:off x="12699795" y="4987877"/>
            <a:ext cx="4559505" cy="2868343"/>
          </a:xfrm>
          <a:custGeom>
            <a:avLst/>
            <a:gdLst/>
            <a:ahLst/>
            <a:cxnLst/>
            <a:rect r="r" b="b" t="t" l="l"/>
            <a:pathLst>
              <a:path h="2868343" w="4559505">
                <a:moveTo>
                  <a:pt x="0" y="0"/>
                </a:moveTo>
                <a:lnTo>
                  <a:pt x="4559505" y="0"/>
                </a:lnTo>
                <a:lnTo>
                  <a:pt x="4559505" y="2868343"/>
                </a:lnTo>
                <a:lnTo>
                  <a:pt x="0" y="28683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2544762" y="8205616"/>
            <a:ext cx="4714538" cy="1367216"/>
          </a:xfrm>
          <a:custGeom>
            <a:avLst/>
            <a:gdLst/>
            <a:ahLst/>
            <a:cxnLst/>
            <a:rect r="r" b="b" t="t" l="l"/>
            <a:pathLst>
              <a:path h="1367216" w="4714538">
                <a:moveTo>
                  <a:pt x="0" y="0"/>
                </a:moveTo>
                <a:lnTo>
                  <a:pt x="4714538" y="0"/>
                </a:lnTo>
                <a:lnTo>
                  <a:pt x="4714538" y="1367216"/>
                </a:lnTo>
                <a:lnTo>
                  <a:pt x="0" y="1367216"/>
                </a:lnTo>
                <a:lnTo>
                  <a:pt x="0" y="0"/>
                </a:lnTo>
                <a:close/>
              </a:path>
            </a:pathLst>
          </a:custGeom>
          <a:blipFill>
            <a:blip r:embed="rId6"/>
            <a:stretch>
              <a:fillRect l="0" t="0" r="0" b="0"/>
            </a:stretch>
          </a:blipFill>
        </p:spPr>
      </p:sp>
      <p:sp>
        <p:nvSpPr>
          <p:cNvPr name="TextBox 12" id="12"/>
          <p:cNvSpPr txBox="true"/>
          <p:nvPr/>
        </p:nvSpPr>
        <p:spPr>
          <a:xfrm rot="0">
            <a:off x="1544727" y="5657290"/>
            <a:ext cx="10025084" cy="424815"/>
          </a:xfrm>
          <a:prstGeom prst="rect">
            <a:avLst/>
          </a:prstGeom>
        </p:spPr>
        <p:txBody>
          <a:bodyPr anchor="t" rtlCol="false" tIns="0" lIns="0" bIns="0" rIns="0">
            <a:spAutoFit/>
          </a:bodyPr>
          <a:lstStyle/>
          <a:p>
            <a:pPr algn="l">
              <a:lnSpc>
                <a:spcPts val="3360"/>
              </a:lnSpc>
            </a:pPr>
            <a:r>
              <a:rPr lang="en-US" sz="2400">
                <a:solidFill>
                  <a:srgbClr val="101010"/>
                </a:solidFill>
                <a:latin typeface="Poppins"/>
                <a:ea typeface="Poppins"/>
                <a:cs typeface="Poppins"/>
                <a:sym typeface="Poppins"/>
              </a:rPr>
              <a:t>Environmental Factors Affecting Soil Moisture and Variables</a:t>
            </a:r>
          </a:p>
        </p:txBody>
      </p:sp>
      <p:sp>
        <p:nvSpPr>
          <p:cNvPr name="TextBox 13" id="13"/>
          <p:cNvSpPr txBox="true"/>
          <p:nvPr/>
        </p:nvSpPr>
        <p:spPr>
          <a:xfrm rot="0">
            <a:off x="1544727" y="6368415"/>
            <a:ext cx="7083247" cy="2165985"/>
          </a:xfrm>
          <a:prstGeom prst="rect">
            <a:avLst/>
          </a:prstGeom>
        </p:spPr>
        <p:txBody>
          <a:bodyPr anchor="t" rtlCol="false" tIns="0" lIns="0" bIns="0" rIns="0">
            <a:spAutoFit/>
          </a:bodyPr>
          <a:lstStyle/>
          <a:p>
            <a:pPr algn="l">
              <a:lnSpc>
                <a:spcPts val="2880"/>
              </a:lnSpc>
            </a:pPr>
            <a:r>
              <a:rPr lang="en-US" sz="1800">
                <a:solidFill>
                  <a:srgbClr val="545454"/>
                </a:solidFill>
                <a:latin typeface="Poppins"/>
                <a:ea typeface="Poppins"/>
                <a:cs typeface="Poppins"/>
                <a:sym typeface="Poppins"/>
              </a:rPr>
              <a:t>Soil moisture is a critical environmental factor for plant growth and agricultural productivity. It is affected by several variables such as temperature, humidity, solar radiation, wind speed and precipitation. In our project, we aim to develop an irrigation system that can measure soil moisture and its dependent variables using Arduino and Python.</a:t>
            </a:r>
          </a:p>
        </p:txBody>
      </p:sp>
      <p:sp>
        <p:nvSpPr>
          <p:cNvPr name="TextBox 14" id="14"/>
          <p:cNvSpPr txBox="true"/>
          <p:nvPr/>
        </p:nvSpPr>
        <p:spPr>
          <a:xfrm rot="0">
            <a:off x="1544727" y="2546276"/>
            <a:ext cx="4668112"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Overview</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4544475"/>
            <a:chOff x="0" y="0"/>
            <a:chExt cx="4816593" cy="1196899"/>
          </a:xfrm>
        </p:grpSpPr>
        <p:sp>
          <p:nvSpPr>
            <p:cNvPr name="Freeform 3" id="3"/>
            <p:cNvSpPr/>
            <p:nvPr/>
          </p:nvSpPr>
          <p:spPr>
            <a:xfrm flipH="false" flipV="false" rot="0">
              <a:off x="0" y="0"/>
              <a:ext cx="4816592" cy="1196899"/>
            </a:xfrm>
            <a:custGeom>
              <a:avLst/>
              <a:gdLst/>
              <a:ahLst/>
              <a:cxnLst/>
              <a:rect r="r" b="b" t="t" l="l"/>
              <a:pathLst>
                <a:path h="1196899" w="4816592">
                  <a:moveTo>
                    <a:pt x="0" y="0"/>
                  </a:moveTo>
                  <a:lnTo>
                    <a:pt x="4816592" y="0"/>
                  </a:lnTo>
                  <a:lnTo>
                    <a:pt x="4816592" y="1196899"/>
                  </a:lnTo>
                  <a:lnTo>
                    <a:pt x="0" y="1196899"/>
                  </a:lnTo>
                  <a:close/>
                </a:path>
              </a:pathLst>
            </a:custGeom>
            <a:solidFill>
              <a:srgbClr val="071C42"/>
            </a:solidFill>
          </p:spPr>
        </p:sp>
        <p:sp>
          <p:nvSpPr>
            <p:cNvPr name="TextBox 4" id="4"/>
            <p:cNvSpPr txBox="true"/>
            <p:nvPr/>
          </p:nvSpPr>
          <p:spPr>
            <a:xfrm>
              <a:off x="0" y="-38100"/>
              <a:ext cx="4816593" cy="123499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544727" y="5657290"/>
            <a:ext cx="10025084" cy="424815"/>
          </a:xfrm>
          <a:prstGeom prst="rect">
            <a:avLst/>
          </a:prstGeom>
        </p:spPr>
        <p:txBody>
          <a:bodyPr anchor="t" rtlCol="false" tIns="0" lIns="0" bIns="0" rIns="0">
            <a:spAutoFit/>
          </a:bodyPr>
          <a:lstStyle/>
          <a:p>
            <a:pPr algn="l">
              <a:lnSpc>
                <a:spcPts val="3360"/>
              </a:lnSpc>
            </a:pPr>
            <a:r>
              <a:rPr lang="en-US" sz="2400">
                <a:solidFill>
                  <a:srgbClr val="101010"/>
                </a:solidFill>
                <a:latin typeface="Poppins"/>
                <a:ea typeface="Poppins"/>
                <a:cs typeface="Poppins"/>
                <a:sym typeface="Poppins"/>
              </a:rPr>
              <a:t>Enhancing Agriculture through Automation and Machine Learning</a:t>
            </a:r>
          </a:p>
        </p:txBody>
      </p:sp>
      <p:sp>
        <p:nvSpPr>
          <p:cNvPr name="TextBox 6" id="6"/>
          <p:cNvSpPr txBox="true"/>
          <p:nvPr/>
        </p:nvSpPr>
        <p:spPr>
          <a:xfrm rot="0">
            <a:off x="1544727" y="6368415"/>
            <a:ext cx="7083247" cy="1804035"/>
          </a:xfrm>
          <a:prstGeom prst="rect">
            <a:avLst/>
          </a:prstGeom>
        </p:spPr>
        <p:txBody>
          <a:bodyPr anchor="t" rtlCol="false" tIns="0" lIns="0" bIns="0" rIns="0">
            <a:spAutoFit/>
          </a:bodyPr>
          <a:lstStyle/>
          <a:p>
            <a:pPr algn="l">
              <a:lnSpc>
                <a:spcPts val="2880"/>
              </a:lnSpc>
            </a:pPr>
            <a:r>
              <a:rPr lang="en-US" sz="1800">
                <a:solidFill>
                  <a:srgbClr val="545454"/>
                </a:solidFill>
                <a:latin typeface="Poppins"/>
                <a:ea typeface="Poppins"/>
                <a:cs typeface="Poppins"/>
                <a:sym typeface="Poppins"/>
              </a:rPr>
              <a:t>This project aims to study the correlation between soil moisture and environmental variables </a:t>
            </a:r>
          </a:p>
          <a:p>
            <a:pPr algn="l" marL="388620" indent="-194310" lvl="1">
              <a:lnSpc>
                <a:spcPts val="2880"/>
              </a:lnSpc>
              <a:buAutoNum type="arabicPeriod" startAt="1"/>
            </a:pPr>
            <a:r>
              <a:rPr lang="en-US" sz="1800">
                <a:solidFill>
                  <a:srgbClr val="545454"/>
                </a:solidFill>
                <a:latin typeface="Poppins"/>
                <a:ea typeface="Poppins"/>
                <a:cs typeface="Poppins"/>
                <a:sym typeface="Poppins"/>
              </a:rPr>
              <a:t>Temperature</a:t>
            </a:r>
          </a:p>
          <a:p>
            <a:pPr algn="l" marL="388620" indent="-194310" lvl="1">
              <a:lnSpc>
                <a:spcPts val="2880"/>
              </a:lnSpc>
              <a:buAutoNum type="arabicPeriod" startAt="1"/>
            </a:pPr>
            <a:r>
              <a:rPr lang="en-US" sz="1800">
                <a:solidFill>
                  <a:srgbClr val="545454"/>
                </a:solidFill>
                <a:latin typeface="Poppins"/>
                <a:ea typeface="Poppins"/>
                <a:cs typeface="Poppins"/>
                <a:sym typeface="Poppins"/>
              </a:rPr>
              <a:t>H</a:t>
            </a:r>
            <a:r>
              <a:rPr lang="en-US" sz="1800">
                <a:solidFill>
                  <a:srgbClr val="545454"/>
                </a:solidFill>
                <a:latin typeface="Poppins"/>
                <a:ea typeface="Poppins"/>
                <a:cs typeface="Poppins"/>
                <a:sym typeface="Poppins"/>
              </a:rPr>
              <a:t>umidity</a:t>
            </a:r>
          </a:p>
          <a:p>
            <a:pPr algn="l" marL="388620" indent="-194310" lvl="1">
              <a:lnSpc>
                <a:spcPts val="2880"/>
              </a:lnSpc>
              <a:buAutoNum type="arabicPeriod" startAt="1"/>
            </a:pPr>
            <a:r>
              <a:rPr lang="en-US" sz="1800">
                <a:solidFill>
                  <a:srgbClr val="545454"/>
                </a:solidFill>
                <a:latin typeface="Poppins"/>
                <a:ea typeface="Poppins"/>
                <a:cs typeface="Poppins"/>
                <a:sym typeface="Poppins"/>
              </a:rPr>
              <a:t>S</a:t>
            </a:r>
            <a:r>
              <a:rPr lang="en-US" sz="1800">
                <a:solidFill>
                  <a:srgbClr val="545454"/>
                </a:solidFill>
                <a:latin typeface="Poppins"/>
                <a:ea typeface="Poppins"/>
                <a:cs typeface="Poppins"/>
                <a:sym typeface="Poppins"/>
              </a:rPr>
              <a:t>olar radiation</a:t>
            </a:r>
          </a:p>
        </p:txBody>
      </p:sp>
      <p:sp>
        <p:nvSpPr>
          <p:cNvPr name="TextBox 7" id="7"/>
          <p:cNvSpPr txBox="true"/>
          <p:nvPr/>
        </p:nvSpPr>
        <p:spPr>
          <a:xfrm rot="0">
            <a:off x="1544727" y="2546276"/>
            <a:ext cx="4668112"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Introduction</a:t>
            </a:r>
          </a:p>
        </p:txBody>
      </p:sp>
      <p:sp>
        <p:nvSpPr>
          <p:cNvPr name="Freeform 8" id="8"/>
          <p:cNvSpPr/>
          <p:nvPr/>
        </p:nvSpPr>
        <p:spPr>
          <a:xfrm flipH="false" flipV="false" rot="0">
            <a:off x="14125424" y="480302"/>
            <a:ext cx="6267753" cy="5093974"/>
          </a:xfrm>
          <a:custGeom>
            <a:avLst/>
            <a:gdLst/>
            <a:ahLst/>
            <a:cxnLst/>
            <a:rect r="r" b="b" t="t" l="l"/>
            <a:pathLst>
              <a:path h="5093974" w="6267753">
                <a:moveTo>
                  <a:pt x="0" y="0"/>
                </a:moveTo>
                <a:lnTo>
                  <a:pt x="6267752" y="0"/>
                </a:lnTo>
                <a:lnTo>
                  <a:pt x="6267752" y="5093973"/>
                </a:lnTo>
                <a:lnTo>
                  <a:pt x="0" y="5093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0" y="4255742"/>
            <a:ext cx="6212838" cy="288733"/>
            <a:chOff x="0" y="0"/>
            <a:chExt cx="1636303" cy="76045"/>
          </a:xfrm>
        </p:grpSpPr>
        <p:sp>
          <p:nvSpPr>
            <p:cNvPr name="Freeform 10" id="10"/>
            <p:cNvSpPr/>
            <p:nvPr/>
          </p:nvSpPr>
          <p:spPr>
            <a:xfrm flipH="false" flipV="false" rot="0">
              <a:off x="0" y="0"/>
              <a:ext cx="1636303" cy="76045"/>
            </a:xfrm>
            <a:custGeom>
              <a:avLst/>
              <a:gdLst/>
              <a:ahLst/>
              <a:cxnLst/>
              <a:rect r="r" b="b" t="t" l="l"/>
              <a:pathLst>
                <a:path h="76045" w="1636303">
                  <a:moveTo>
                    <a:pt x="0" y="0"/>
                  </a:moveTo>
                  <a:lnTo>
                    <a:pt x="1636303" y="0"/>
                  </a:lnTo>
                  <a:lnTo>
                    <a:pt x="1636303" y="76045"/>
                  </a:lnTo>
                  <a:lnTo>
                    <a:pt x="0" y="76045"/>
                  </a:lnTo>
                  <a:close/>
                </a:path>
              </a:pathLst>
            </a:custGeom>
            <a:solidFill>
              <a:srgbClr val="3DCAB1"/>
            </a:solidFill>
          </p:spPr>
        </p:sp>
        <p:sp>
          <p:nvSpPr>
            <p:cNvPr name="TextBox 11" id="11"/>
            <p:cNvSpPr txBox="true"/>
            <p:nvPr/>
          </p:nvSpPr>
          <p:spPr>
            <a:xfrm>
              <a:off x="0" y="-38100"/>
              <a:ext cx="1636303" cy="114145"/>
            </a:xfrm>
            <a:prstGeom prst="rect">
              <a:avLst/>
            </a:prstGeom>
          </p:spPr>
          <p:txBody>
            <a:bodyPr anchor="ctr" rtlCol="false" tIns="50800" lIns="50800" bIns="50800" rIns="50800"/>
            <a:lstStyle/>
            <a:p>
              <a:pPr algn="ctr">
                <a:lnSpc>
                  <a:spcPts val="2659"/>
                </a:lnSpc>
                <a:spcBef>
                  <a:spcPct val="0"/>
                </a:spcBef>
              </a:pPr>
            </a:p>
          </p:txBody>
        </p:sp>
      </p:grpSp>
      <p:sp>
        <p:nvSpPr>
          <p:cNvPr name="AutoShape 12" id="12"/>
          <p:cNvSpPr/>
          <p:nvPr/>
        </p:nvSpPr>
        <p:spPr>
          <a:xfrm rot="0">
            <a:off x="1028700" y="601417"/>
            <a:ext cx="16230600" cy="0"/>
          </a:xfrm>
          <a:prstGeom prst="line">
            <a:avLst/>
          </a:prstGeom>
          <a:ln cap="flat" w="19050">
            <a:solidFill>
              <a:srgbClr val="D9D9D9"/>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4544475"/>
            <a:chOff x="0" y="0"/>
            <a:chExt cx="4816593" cy="1196899"/>
          </a:xfrm>
        </p:grpSpPr>
        <p:sp>
          <p:nvSpPr>
            <p:cNvPr name="Freeform 3" id="3"/>
            <p:cNvSpPr/>
            <p:nvPr/>
          </p:nvSpPr>
          <p:spPr>
            <a:xfrm flipH="false" flipV="false" rot="0">
              <a:off x="0" y="0"/>
              <a:ext cx="4816592" cy="1196899"/>
            </a:xfrm>
            <a:custGeom>
              <a:avLst/>
              <a:gdLst/>
              <a:ahLst/>
              <a:cxnLst/>
              <a:rect r="r" b="b" t="t" l="l"/>
              <a:pathLst>
                <a:path h="1196899" w="4816592">
                  <a:moveTo>
                    <a:pt x="0" y="0"/>
                  </a:moveTo>
                  <a:lnTo>
                    <a:pt x="4816592" y="0"/>
                  </a:lnTo>
                  <a:lnTo>
                    <a:pt x="4816592" y="1196899"/>
                  </a:lnTo>
                  <a:lnTo>
                    <a:pt x="0" y="1196899"/>
                  </a:lnTo>
                  <a:close/>
                </a:path>
              </a:pathLst>
            </a:custGeom>
            <a:solidFill>
              <a:srgbClr val="071C42"/>
            </a:solidFill>
          </p:spPr>
        </p:sp>
        <p:sp>
          <p:nvSpPr>
            <p:cNvPr name="TextBox 4" id="4"/>
            <p:cNvSpPr txBox="true"/>
            <p:nvPr/>
          </p:nvSpPr>
          <p:spPr>
            <a:xfrm>
              <a:off x="0" y="-38100"/>
              <a:ext cx="4816593" cy="123499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544727" y="5657290"/>
            <a:ext cx="10025084" cy="424815"/>
          </a:xfrm>
          <a:prstGeom prst="rect">
            <a:avLst/>
          </a:prstGeom>
        </p:spPr>
        <p:txBody>
          <a:bodyPr anchor="t" rtlCol="false" tIns="0" lIns="0" bIns="0" rIns="0">
            <a:spAutoFit/>
          </a:bodyPr>
          <a:lstStyle/>
          <a:p>
            <a:pPr algn="l">
              <a:lnSpc>
                <a:spcPts val="3360"/>
              </a:lnSpc>
            </a:pPr>
            <a:r>
              <a:rPr lang="en-US" sz="2400">
                <a:solidFill>
                  <a:srgbClr val="101010"/>
                </a:solidFill>
                <a:latin typeface="Poppins"/>
                <a:ea typeface="Poppins"/>
                <a:cs typeface="Poppins"/>
                <a:sym typeface="Poppins"/>
              </a:rPr>
              <a:t>Building a Smart Irrigation System for Precision Farming</a:t>
            </a:r>
          </a:p>
        </p:txBody>
      </p:sp>
      <p:sp>
        <p:nvSpPr>
          <p:cNvPr name="TextBox 6" id="6"/>
          <p:cNvSpPr txBox="true"/>
          <p:nvPr/>
        </p:nvSpPr>
        <p:spPr>
          <a:xfrm rot="0">
            <a:off x="1544727" y="6368415"/>
            <a:ext cx="7083247" cy="2527935"/>
          </a:xfrm>
          <a:prstGeom prst="rect">
            <a:avLst/>
          </a:prstGeom>
        </p:spPr>
        <p:txBody>
          <a:bodyPr anchor="t" rtlCol="false" tIns="0" lIns="0" bIns="0" rIns="0">
            <a:spAutoFit/>
          </a:bodyPr>
          <a:lstStyle/>
          <a:p>
            <a:pPr algn="l">
              <a:lnSpc>
                <a:spcPts val="2880"/>
              </a:lnSpc>
            </a:pPr>
            <a:r>
              <a:rPr lang="en-US" sz="1800">
                <a:solidFill>
                  <a:srgbClr val="545454"/>
                </a:solidFill>
                <a:latin typeface="Poppins"/>
                <a:ea typeface="Poppins"/>
                <a:cs typeface="Poppins"/>
                <a:sym typeface="Poppins"/>
              </a:rPr>
              <a:t>We aim to build a smart irrigation system to predict soil moisture levels based on temperature, humidity, and solar radiation data. We aim to achieve precision farming by controlling the water supply to plants based on their soil moisture needs. Our system will also store the measured and predicted soil moisture data to evaluate the accuracy of the machine-learning model.</a:t>
            </a:r>
          </a:p>
        </p:txBody>
      </p:sp>
      <p:sp>
        <p:nvSpPr>
          <p:cNvPr name="TextBox 7" id="7"/>
          <p:cNvSpPr txBox="true"/>
          <p:nvPr/>
        </p:nvSpPr>
        <p:spPr>
          <a:xfrm rot="0">
            <a:off x="1544727" y="2546276"/>
            <a:ext cx="4668112"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Objectives</a:t>
            </a:r>
          </a:p>
        </p:txBody>
      </p:sp>
      <p:sp>
        <p:nvSpPr>
          <p:cNvPr name="Freeform 8" id="8"/>
          <p:cNvSpPr/>
          <p:nvPr/>
        </p:nvSpPr>
        <p:spPr>
          <a:xfrm flipH="false" flipV="false" rot="0">
            <a:off x="14125424" y="480302"/>
            <a:ext cx="6267753" cy="5093974"/>
          </a:xfrm>
          <a:custGeom>
            <a:avLst/>
            <a:gdLst/>
            <a:ahLst/>
            <a:cxnLst/>
            <a:rect r="r" b="b" t="t" l="l"/>
            <a:pathLst>
              <a:path h="5093974" w="6267753">
                <a:moveTo>
                  <a:pt x="0" y="0"/>
                </a:moveTo>
                <a:lnTo>
                  <a:pt x="6267752" y="0"/>
                </a:lnTo>
                <a:lnTo>
                  <a:pt x="6267752" y="5093973"/>
                </a:lnTo>
                <a:lnTo>
                  <a:pt x="0" y="5093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0" y="4255742"/>
            <a:ext cx="6212838" cy="288733"/>
            <a:chOff x="0" y="0"/>
            <a:chExt cx="1636303" cy="76045"/>
          </a:xfrm>
        </p:grpSpPr>
        <p:sp>
          <p:nvSpPr>
            <p:cNvPr name="Freeform 10" id="10"/>
            <p:cNvSpPr/>
            <p:nvPr/>
          </p:nvSpPr>
          <p:spPr>
            <a:xfrm flipH="false" flipV="false" rot="0">
              <a:off x="0" y="0"/>
              <a:ext cx="1636303" cy="76045"/>
            </a:xfrm>
            <a:custGeom>
              <a:avLst/>
              <a:gdLst/>
              <a:ahLst/>
              <a:cxnLst/>
              <a:rect r="r" b="b" t="t" l="l"/>
              <a:pathLst>
                <a:path h="76045" w="1636303">
                  <a:moveTo>
                    <a:pt x="0" y="0"/>
                  </a:moveTo>
                  <a:lnTo>
                    <a:pt x="1636303" y="0"/>
                  </a:lnTo>
                  <a:lnTo>
                    <a:pt x="1636303" y="76045"/>
                  </a:lnTo>
                  <a:lnTo>
                    <a:pt x="0" y="76045"/>
                  </a:lnTo>
                  <a:close/>
                </a:path>
              </a:pathLst>
            </a:custGeom>
            <a:solidFill>
              <a:srgbClr val="3DCAB1"/>
            </a:solidFill>
          </p:spPr>
        </p:sp>
        <p:sp>
          <p:nvSpPr>
            <p:cNvPr name="TextBox 11" id="11"/>
            <p:cNvSpPr txBox="true"/>
            <p:nvPr/>
          </p:nvSpPr>
          <p:spPr>
            <a:xfrm>
              <a:off x="0" y="-38100"/>
              <a:ext cx="1636303" cy="114145"/>
            </a:xfrm>
            <a:prstGeom prst="rect">
              <a:avLst/>
            </a:prstGeom>
          </p:spPr>
          <p:txBody>
            <a:bodyPr anchor="ctr" rtlCol="false" tIns="50800" lIns="50800" bIns="50800" rIns="50800"/>
            <a:lstStyle/>
            <a:p>
              <a:pPr algn="ctr">
                <a:lnSpc>
                  <a:spcPts val="2659"/>
                </a:lnSpc>
                <a:spcBef>
                  <a:spcPct val="0"/>
                </a:spcBef>
              </a:pPr>
            </a:p>
          </p:txBody>
        </p:sp>
      </p:grpSp>
      <p:sp>
        <p:nvSpPr>
          <p:cNvPr name="AutoShape 12" id="12"/>
          <p:cNvSpPr/>
          <p:nvPr/>
        </p:nvSpPr>
        <p:spPr>
          <a:xfrm rot="0">
            <a:off x="1028700" y="601417"/>
            <a:ext cx="16230600" cy="0"/>
          </a:xfrm>
          <a:prstGeom prst="line">
            <a:avLst/>
          </a:prstGeom>
          <a:ln cap="flat" w="19050">
            <a:solidFill>
              <a:srgbClr val="D9D9D9"/>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21496" y="1456808"/>
            <a:ext cx="9761815" cy="904875"/>
          </a:xfrm>
          <a:prstGeom prst="rect">
            <a:avLst/>
          </a:prstGeom>
        </p:spPr>
        <p:txBody>
          <a:bodyPr anchor="t" rtlCol="false" tIns="0" lIns="0" bIns="0" rIns="0">
            <a:spAutoFit/>
          </a:bodyPr>
          <a:lstStyle/>
          <a:p>
            <a:pPr algn="l">
              <a:lnSpc>
                <a:spcPts val="6719"/>
              </a:lnSpc>
            </a:pPr>
            <a:r>
              <a:rPr lang="en-US" sz="5599" b="true">
                <a:solidFill>
                  <a:srgbClr val="101010"/>
                </a:solidFill>
                <a:latin typeface="Poppins Bold"/>
                <a:ea typeface="Poppins Bold"/>
                <a:cs typeface="Poppins Bold"/>
                <a:sym typeface="Poppins Bold"/>
              </a:rPr>
              <a:t>Experimental Procedure</a:t>
            </a:r>
          </a:p>
        </p:txBody>
      </p:sp>
      <p:grpSp>
        <p:nvGrpSpPr>
          <p:cNvPr name="Group 3" id="3"/>
          <p:cNvGrpSpPr/>
          <p:nvPr/>
        </p:nvGrpSpPr>
        <p:grpSpPr>
          <a:xfrm rot="0">
            <a:off x="0" y="5143500"/>
            <a:ext cx="6121614" cy="5143500"/>
            <a:chOff x="0" y="0"/>
            <a:chExt cx="1451049" cy="1219200"/>
          </a:xfrm>
        </p:grpSpPr>
        <p:sp>
          <p:nvSpPr>
            <p:cNvPr name="Freeform 4" id="4"/>
            <p:cNvSpPr/>
            <p:nvPr/>
          </p:nvSpPr>
          <p:spPr>
            <a:xfrm flipH="false" flipV="false" rot="0">
              <a:off x="0" y="0"/>
              <a:ext cx="1451049" cy="1219200"/>
            </a:xfrm>
            <a:custGeom>
              <a:avLst/>
              <a:gdLst/>
              <a:ahLst/>
              <a:cxnLst/>
              <a:rect r="r" b="b" t="t" l="l"/>
              <a:pathLst>
                <a:path h="1219200" w="1451049">
                  <a:moveTo>
                    <a:pt x="0" y="0"/>
                  </a:moveTo>
                  <a:lnTo>
                    <a:pt x="1451049" y="0"/>
                  </a:lnTo>
                  <a:lnTo>
                    <a:pt x="1451049" y="1219200"/>
                  </a:lnTo>
                  <a:lnTo>
                    <a:pt x="0" y="1219200"/>
                  </a:lnTo>
                  <a:close/>
                </a:path>
              </a:pathLst>
            </a:custGeom>
            <a:solidFill>
              <a:srgbClr val="071C42"/>
            </a:solidFill>
          </p:spPr>
        </p:sp>
        <p:sp>
          <p:nvSpPr>
            <p:cNvPr name="TextBox 5" id="5"/>
            <p:cNvSpPr txBox="true"/>
            <p:nvPr/>
          </p:nvSpPr>
          <p:spPr>
            <a:xfrm>
              <a:off x="0" y="-38100"/>
              <a:ext cx="1451049" cy="12573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066407" y="5755031"/>
            <a:ext cx="3509493" cy="4248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Arduino UNO</a:t>
            </a:r>
          </a:p>
        </p:txBody>
      </p:sp>
      <p:sp>
        <p:nvSpPr>
          <p:cNvPr name="TextBox 7" id="7"/>
          <p:cNvSpPr txBox="true"/>
          <p:nvPr/>
        </p:nvSpPr>
        <p:spPr>
          <a:xfrm rot="0">
            <a:off x="1221496" y="2707518"/>
            <a:ext cx="5814035" cy="356235"/>
          </a:xfrm>
          <a:prstGeom prst="rect">
            <a:avLst/>
          </a:prstGeom>
        </p:spPr>
        <p:txBody>
          <a:bodyPr anchor="t" rtlCol="false" tIns="0" lIns="0" bIns="0" rIns="0">
            <a:spAutoFit/>
          </a:bodyPr>
          <a:lstStyle/>
          <a:p>
            <a:pPr algn="l">
              <a:lnSpc>
                <a:spcPts val="2880"/>
              </a:lnSpc>
            </a:pPr>
            <a:r>
              <a:rPr lang="en-US" sz="1800">
                <a:solidFill>
                  <a:srgbClr val="545454"/>
                </a:solidFill>
                <a:latin typeface="Poppins"/>
                <a:ea typeface="Poppins"/>
                <a:cs typeface="Poppins"/>
                <a:sym typeface="Poppins"/>
              </a:rPr>
              <a:t>Components and Measurements</a:t>
            </a:r>
          </a:p>
        </p:txBody>
      </p:sp>
      <p:grpSp>
        <p:nvGrpSpPr>
          <p:cNvPr name="Group 8" id="8"/>
          <p:cNvGrpSpPr/>
          <p:nvPr/>
        </p:nvGrpSpPr>
        <p:grpSpPr>
          <a:xfrm rot="0">
            <a:off x="6121614" y="5143500"/>
            <a:ext cx="6044772" cy="5143500"/>
            <a:chOff x="0" y="0"/>
            <a:chExt cx="1432835" cy="1219200"/>
          </a:xfrm>
        </p:grpSpPr>
        <p:sp>
          <p:nvSpPr>
            <p:cNvPr name="Freeform 9" id="9"/>
            <p:cNvSpPr/>
            <p:nvPr/>
          </p:nvSpPr>
          <p:spPr>
            <a:xfrm flipH="false" flipV="false" rot="0">
              <a:off x="0" y="0"/>
              <a:ext cx="1432835" cy="1219200"/>
            </a:xfrm>
            <a:custGeom>
              <a:avLst/>
              <a:gdLst/>
              <a:ahLst/>
              <a:cxnLst/>
              <a:rect r="r" b="b" t="t" l="l"/>
              <a:pathLst>
                <a:path h="1219200" w="1432835">
                  <a:moveTo>
                    <a:pt x="0" y="0"/>
                  </a:moveTo>
                  <a:lnTo>
                    <a:pt x="1432835" y="0"/>
                  </a:lnTo>
                  <a:lnTo>
                    <a:pt x="1432835" y="1219200"/>
                  </a:lnTo>
                  <a:lnTo>
                    <a:pt x="0" y="1219200"/>
                  </a:lnTo>
                  <a:close/>
                </a:path>
              </a:pathLst>
            </a:custGeom>
            <a:solidFill>
              <a:srgbClr val="3DCAB1"/>
            </a:solidFill>
          </p:spPr>
        </p:sp>
        <p:sp>
          <p:nvSpPr>
            <p:cNvPr name="TextBox 10" id="10"/>
            <p:cNvSpPr txBox="true"/>
            <p:nvPr/>
          </p:nvSpPr>
          <p:spPr>
            <a:xfrm>
              <a:off x="0" y="-38100"/>
              <a:ext cx="1432835" cy="12573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6938901" y="5755031"/>
            <a:ext cx="3509493" cy="4248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BH 1750</a:t>
            </a:r>
          </a:p>
        </p:txBody>
      </p:sp>
      <p:grpSp>
        <p:nvGrpSpPr>
          <p:cNvPr name="Group 12" id="12"/>
          <p:cNvGrpSpPr/>
          <p:nvPr/>
        </p:nvGrpSpPr>
        <p:grpSpPr>
          <a:xfrm rot="0">
            <a:off x="12166386" y="5143500"/>
            <a:ext cx="6121614" cy="5143500"/>
            <a:chOff x="0" y="0"/>
            <a:chExt cx="1451049" cy="1219200"/>
          </a:xfrm>
        </p:grpSpPr>
        <p:sp>
          <p:nvSpPr>
            <p:cNvPr name="Freeform 13" id="13"/>
            <p:cNvSpPr/>
            <p:nvPr/>
          </p:nvSpPr>
          <p:spPr>
            <a:xfrm flipH="false" flipV="false" rot="0">
              <a:off x="0" y="0"/>
              <a:ext cx="1451049" cy="1219200"/>
            </a:xfrm>
            <a:custGeom>
              <a:avLst/>
              <a:gdLst/>
              <a:ahLst/>
              <a:cxnLst/>
              <a:rect r="r" b="b" t="t" l="l"/>
              <a:pathLst>
                <a:path h="1219200" w="1451049">
                  <a:moveTo>
                    <a:pt x="0" y="0"/>
                  </a:moveTo>
                  <a:lnTo>
                    <a:pt x="1451049" y="0"/>
                  </a:lnTo>
                  <a:lnTo>
                    <a:pt x="1451049" y="1219200"/>
                  </a:lnTo>
                  <a:lnTo>
                    <a:pt x="0" y="1219200"/>
                  </a:lnTo>
                  <a:close/>
                </a:path>
              </a:pathLst>
            </a:custGeom>
            <a:solidFill>
              <a:srgbClr val="071C42"/>
            </a:solidFill>
          </p:spPr>
        </p:sp>
        <p:sp>
          <p:nvSpPr>
            <p:cNvPr name="TextBox 14" id="14"/>
            <p:cNvSpPr txBox="true"/>
            <p:nvPr/>
          </p:nvSpPr>
          <p:spPr>
            <a:xfrm>
              <a:off x="0" y="-38100"/>
              <a:ext cx="1451049" cy="12573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3110784" y="5755031"/>
            <a:ext cx="3509493" cy="4248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DHT 220</a:t>
            </a:r>
          </a:p>
        </p:txBody>
      </p:sp>
      <p:sp>
        <p:nvSpPr>
          <p:cNvPr name="AutoShape 16" id="16"/>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17" id="17"/>
          <p:cNvSpPr/>
          <p:nvPr/>
        </p:nvSpPr>
        <p:spPr>
          <a:xfrm flipH="false" flipV="false" rot="0">
            <a:off x="6938901" y="6716634"/>
            <a:ext cx="4241070" cy="3176709"/>
          </a:xfrm>
          <a:custGeom>
            <a:avLst/>
            <a:gdLst/>
            <a:ahLst/>
            <a:cxnLst/>
            <a:rect r="r" b="b" t="t" l="l"/>
            <a:pathLst>
              <a:path h="3176709" w="4241070">
                <a:moveTo>
                  <a:pt x="0" y="0"/>
                </a:moveTo>
                <a:lnTo>
                  <a:pt x="4241070" y="0"/>
                </a:lnTo>
                <a:lnTo>
                  <a:pt x="4241070" y="3176709"/>
                </a:lnTo>
                <a:lnTo>
                  <a:pt x="0" y="3176709"/>
                </a:lnTo>
                <a:lnTo>
                  <a:pt x="0" y="0"/>
                </a:lnTo>
                <a:close/>
              </a:path>
            </a:pathLst>
          </a:custGeom>
          <a:blipFill>
            <a:blip r:embed="rId2"/>
            <a:stretch>
              <a:fillRect l="0" t="0" r="0" b="0"/>
            </a:stretch>
          </a:blipFill>
        </p:spPr>
      </p:sp>
      <p:sp>
        <p:nvSpPr>
          <p:cNvPr name="Freeform 18" id="18"/>
          <p:cNvSpPr/>
          <p:nvPr/>
        </p:nvSpPr>
        <p:spPr>
          <a:xfrm flipH="false" flipV="false" rot="0">
            <a:off x="13110784" y="6716634"/>
            <a:ext cx="4232818" cy="3176709"/>
          </a:xfrm>
          <a:custGeom>
            <a:avLst/>
            <a:gdLst/>
            <a:ahLst/>
            <a:cxnLst/>
            <a:rect r="r" b="b" t="t" l="l"/>
            <a:pathLst>
              <a:path h="3176709" w="4232818">
                <a:moveTo>
                  <a:pt x="0" y="0"/>
                </a:moveTo>
                <a:lnTo>
                  <a:pt x="4232818" y="0"/>
                </a:lnTo>
                <a:lnTo>
                  <a:pt x="4232818" y="3176709"/>
                </a:lnTo>
                <a:lnTo>
                  <a:pt x="0" y="3176709"/>
                </a:lnTo>
                <a:lnTo>
                  <a:pt x="0" y="0"/>
                </a:lnTo>
                <a:close/>
              </a:path>
            </a:pathLst>
          </a:custGeom>
          <a:blipFill>
            <a:blip r:embed="rId3"/>
            <a:stretch>
              <a:fillRect l="0" t="0" r="0" b="0"/>
            </a:stretch>
          </a:blipFill>
        </p:spPr>
      </p:sp>
      <p:sp>
        <p:nvSpPr>
          <p:cNvPr name="Freeform 19" id="19"/>
          <p:cNvSpPr/>
          <p:nvPr/>
        </p:nvSpPr>
        <p:spPr>
          <a:xfrm flipH="false" flipV="false" rot="0">
            <a:off x="1066407" y="6716634"/>
            <a:ext cx="3988800" cy="3176709"/>
          </a:xfrm>
          <a:custGeom>
            <a:avLst/>
            <a:gdLst/>
            <a:ahLst/>
            <a:cxnLst/>
            <a:rect r="r" b="b" t="t" l="l"/>
            <a:pathLst>
              <a:path h="3176709" w="3988800">
                <a:moveTo>
                  <a:pt x="0" y="0"/>
                </a:moveTo>
                <a:lnTo>
                  <a:pt x="3988800" y="0"/>
                </a:lnTo>
                <a:lnTo>
                  <a:pt x="3988800" y="3176709"/>
                </a:lnTo>
                <a:lnTo>
                  <a:pt x="0" y="3176709"/>
                </a:lnTo>
                <a:lnTo>
                  <a:pt x="0" y="0"/>
                </a:lnTo>
                <a:close/>
              </a:path>
            </a:pathLst>
          </a:custGeom>
          <a:blipFill>
            <a:blip r:embed="rId4"/>
            <a:stretch>
              <a:fillRect l="0" t="0" r="0" b="0"/>
            </a:stretch>
          </a:blipFill>
        </p:spPr>
      </p:sp>
      <p:sp>
        <p:nvSpPr>
          <p:cNvPr name="TextBox 20" id="20"/>
          <p:cNvSpPr txBox="true"/>
          <p:nvPr/>
        </p:nvSpPr>
        <p:spPr>
          <a:xfrm rot="0">
            <a:off x="13110784" y="6179635"/>
            <a:ext cx="5814035" cy="356235"/>
          </a:xfrm>
          <a:prstGeom prst="rect">
            <a:avLst/>
          </a:prstGeom>
        </p:spPr>
        <p:txBody>
          <a:bodyPr anchor="t" rtlCol="false" tIns="0" lIns="0" bIns="0" rIns="0">
            <a:spAutoFit/>
          </a:bodyPr>
          <a:lstStyle/>
          <a:p>
            <a:pPr algn="l">
              <a:lnSpc>
                <a:spcPts val="2880"/>
              </a:lnSpc>
            </a:pPr>
            <a:r>
              <a:rPr lang="en-US" sz="1800">
                <a:solidFill>
                  <a:srgbClr val="FFFFFF"/>
                </a:solidFill>
                <a:latin typeface="Poppins"/>
                <a:ea typeface="Poppins"/>
                <a:cs typeface="Poppins"/>
                <a:sym typeface="Poppins"/>
              </a:rPr>
              <a:t>Temperature, Humidity</a:t>
            </a:r>
          </a:p>
        </p:txBody>
      </p:sp>
      <p:sp>
        <p:nvSpPr>
          <p:cNvPr name="TextBox 21" id="21"/>
          <p:cNvSpPr txBox="true"/>
          <p:nvPr/>
        </p:nvSpPr>
        <p:spPr>
          <a:xfrm rot="0">
            <a:off x="6938901" y="6179635"/>
            <a:ext cx="5814035" cy="356235"/>
          </a:xfrm>
          <a:prstGeom prst="rect">
            <a:avLst/>
          </a:prstGeom>
        </p:spPr>
        <p:txBody>
          <a:bodyPr anchor="t" rtlCol="false" tIns="0" lIns="0" bIns="0" rIns="0">
            <a:spAutoFit/>
          </a:bodyPr>
          <a:lstStyle/>
          <a:p>
            <a:pPr algn="l">
              <a:lnSpc>
                <a:spcPts val="2880"/>
              </a:lnSpc>
            </a:pPr>
            <a:r>
              <a:rPr lang="en-US" sz="1800">
                <a:solidFill>
                  <a:srgbClr val="FFFFFF"/>
                </a:solidFill>
                <a:latin typeface="Poppins"/>
                <a:ea typeface="Poppins"/>
                <a:cs typeface="Poppins"/>
                <a:sym typeface="Poppins"/>
              </a:rPr>
              <a:t>Light Intensity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21496" y="1456808"/>
            <a:ext cx="9761815" cy="904875"/>
          </a:xfrm>
          <a:prstGeom prst="rect">
            <a:avLst/>
          </a:prstGeom>
        </p:spPr>
        <p:txBody>
          <a:bodyPr anchor="t" rtlCol="false" tIns="0" lIns="0" bIns="0" rIns="0">
            <a:spAutoFit/>
          </a:bodyPr>
          <a:lstStyle/>
          <a:p>
            <a:pPr algn="l">
              <a:lnSpc>
                <a:spcPts val="6719"/>
              </a:lnSpc>
            </a:pPr>
            <a:r>
              <a:rPr lang="en-US" sz="5599" b="true">
                <a:solidFill>
                  <a:srgbClr val="101010"/>
                </a:solidFill>
                <a:latin typeface="Poppins Bold"/>
                <a:ea typeface="Poppins Bold"/>
                <a:cs typeface="Poppins Bold"/>
                <a:sym typeface="Poppins Bold"/>
              </a:rPr>
              <a:t>Experimental Procedure</a:t>
            </a:r>
          </a:p>
        </p:txBody>
      </p:sp>
      <p:grpSp>
        <p:nvGrpSpPr>
          <p:cNvPr name="Group 3" id="3"/>
          <p:cNvGrpSpPr/>
          <p:nvPr/>
        </p:nvGrpSpPr>
        <p:grpSpPr>
          <a:xfrm rot="0">
            <a:off x="0" y="5143500"/>
            <a:ext cx="6121614" cy="5143500"/>
            <a:chOff x="0" y="0"/>
            <a:chExt cx="1451049" cy="1219200"/>
          </a:xfrm>
        </p:grpSpPr>
        <p:sp>
          <p:nvSpPr>
            <p:cNvPr name="Freeform 4" id="4"/>
            <p:cNvSpPr/>
            <p:nvPr/>
          </p:nvSpPr>
          <p:spPr>
            <a:xfrm flipH="false" flipV="false" rot="0">
              <a:off x="0" y="0"/>
              <a:ext cx="1451049" cy="1219200"/>
            </a:xfrm>
            <a:custGeom>
              <a:avLst/>
              <a:gdLst/>
              <a:ahLst/>
              <a:cxnLst/>
              <a:rect r="r" b="b" t="t" l="l"/>
              <a:pathLst>
                <a:path h="1219200" w="1451049">
                  <a:moveTo>
                    <a:pt x="0" y="0"/>
                  </a:moveTo>
                  <a:lnTo>
                    <a:pt x="1451049" y="0"/>
                  </a:lnTo>
                  <a:lnTo>
                    <a:pt x="1451049" y="1219200"/>
                  </a:lnTo>
                  <a:lnTo>
                    <a:pt x="0" y="1219200"/>
                  </a:lnTo>
                  <a:close/>
                </a:path>
              </a:pathLst>
            </a:custGeom>
            <a:solidFill>
              <a:srgbClr val="071C42"/>
            </a:solidFill>
          </p:spPr>
        </p:sp>
        <p:sp>
          <p:nvSpPr>
            <p:cNvPr name="TextBox 5" id="5"/>
            <p:cNvSpPr txBox="true"/>
            <p:nvPr/>
          </p:nvSpPr>
          <p:spPr>
            <a:xfrm>
              <a:off x="0" y="-38100"/>
              <a:ext cx="1451049" cy="12573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028700" y="5755031"/>
            <a:ext cx="5240034" cy="4248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Capacitive Soil Moisture Sensor</a:t>
            </a:r>
          </a:p>
        </p:txBody>
      </p:sp>
      <p:sp>
        <p:nvSpPr>
          <p:cNvPr name="Freeform 7" id="7"/>
          <p:cNvSpPr/>
          <p:nvPr/>
        </p:nvSpPr>
        <p:spPr>
          <a:xfrm flipH="false" flipV="false" rot="0">
            <a:off x="8187217" y="-1676277"/>
            <a:ext cx="12260528" cy="8939040"/>
          </a:xfrm>
          <a:custGeom>
            <a:avLst/>
            <a:gdLst/>
            <a:ahLst/>
            <a:cxnLst/>
            <a:rect r="r" b="b" t="t" l="l"/>
            <a:pathLst>
              <a:path h="8939040" w="12260528">
                <a:moveTo>
                  <a:pt x="0" y="0"/>
                </a:moveTo>
                <a:lnTo>
                  <a:pt x="12260529" y="0"/>
                </a:lnTo>
                <a:lnTo>
                  <a:pt x="12260529" y="8939040"/>
                </a:lnTo>
                <a:lnTo>
                  <a:pt x="0" y="89390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6121614" y="5143500"/>
            <a:ext cx="6044772" cy="5143500"/>
            <a:chOff x="0" y="0"/>
            <a:chExt cx="1432835" cy="1219200"/>
          </a:xfrm>
        </p:grpSpPr>
        <p:sp>
          <p:nvSpPr>
            <p:cNvPr name="Freeform 9" id="9"/>
            <p:cNvSpPr/>
            <p:nvPr/>
          </p:nvSpPr>
          <p:spPr>
            <a:xfrm flipH="false" flipV="false" rot="0">
              <a:off x="0" y="0"/>
              <a:ext cx="1432835" cy="1219200"/>
            </a:xfrm>
            <a:custGeom>
              <a:avLst/>
              <a:gdLst/>
              <a:ahLst/>
              <a:cxnLst/>
              <a:rect r="r" b="b" t="t" l="l"/>
              <a:pathLst>
                <a:path h="1219200" w="1432835">
                  <a:moveTo>
                    <a:pt x="0" y="0"/>
                  </a:moveTo>
                  <a:lnTo>
                    <a:pt x="1432835" y="0"/>
                  </a:lnTo>
                  <a:lnTo>
                    <a:pt x="1432835" y="1219200"/>
                  </a:lnTo>
                  <a:lnTo>
                    <a:pt x="0" y="1219200"/>
                  </a:lnTo>
                  <a:close/>
                </a:path>
              </a:pathLst>
            </a:custGeom>
            <a:solidFill>
              <a:srgbClr val="3DCAB1"/>
            </a:solidFill>
          </p:spPr>
        </p:sp>
        <p:sp>
          <p:nvSpPr>
            <p:cNvPr name="TextBox 10" id="10"/>
            <p:cNvSpPr txBox="true"/>
            <p:nvPr/>
          </p:nvSpPr>
          <p:spPr>
            <a:xfrm>
              <a:off x="0" y="-38100"/>
              <a:ext cx="1432835"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2166386" y="5143500"/>
            <a:ext cx="6121614" cy="5143500"/>
            <a:chOff x="0" y="0"/>
            <a:chExt cx="1451049" cy="1219200"/>
          </a:xfrm>
        </p:grpSpPr>
        <p:sp>
          <p:nvSpPr>
            <p:cNvPr name="Freeform 12" id="12"/>
            <p:cNvSpPr/>
            <p:nvPr/>
          </p:nvSpPr>
          <p:spPr>
            <a:xfrm flipH="false" flipV="false" rot="0">
              <a:off x="0" y="0"/>
              <a:ext cx="1451049" cy="1219200"/>
            </a:xfrm>
            <a:custGeom>
              <a:avLst/>
              <a:gdLst/>
              <a:ahLst/>
              <a:cxnLst/>
              <a:rect r="r" b="b" t="t" l="l"/>
              <a:pathLst>
                <a:path h="1219200" w="1451049">
                  <a:moveTo>
                    <a:pt x="0" y="0"/>
                  </a:moveTo>
                  <a:lnTo>
                    <a:pt x="1451049" y="0"/>
                  </a:lnTo>
                  <a:lnTo>
                    <a:pt x="1451049" y="1219200"/>
                  </a:lnTo>
                  <a:lnTo>
                    <a:pt x="0" y="1219200"/>
                  </a:lnTo>
                  <a:close/>
                </a:path>
              </a:pathLst>
            </a:custGeom>
            <a:solidFill>
              <a:srgbClr val="071C42"/>
            </a:solidFill>
          </p:spPr>
        </p:sp>
        <p:sp>
          <p:nvSpPr>
            <p:cNvPr name="TextBox 13" id="13"/>
            <p:cNvSpPr txBox="true"/>
            <p:nvPr/>
          </p:nvSpPr>
          <p:spPr>
            <a:xfrm>
              <a:off x="0" y="-38100"/>
              <a:ext cx="1451049" cy="1257300"/>
            </a:xfrm>
            <a:prstGeom prst="rect">
              <a:avLst/>
            </a:prstGeom>
          </p:spPr>
          <p:txBody>
            <a:bodyPr anchor="ctr" rtlCol="false" tIns="50800" lIns="50800" bIns="50800" rIns="50800"/>
            <a:lstStyle/>
            <a:p>
              <a:pPr algn="ctr">
                <a:lnSpc>
                  <a:spcPts val="2659"/>
                </a:lnSpc>
                <a:spcBef>
                  <a:spcPct val="0"/>
                </a:spcBef>
              </a:pPr>
            </a:p>
          </p:txBody>
        </p:sp>
      </p:grpSp>
      <p:sp>
        <p:nvSpPr>
          <p:cNvPr name="AutoShape 14" id="14"/>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15" id="15"/>
          <p:cNvSpPr/>
          <p:nvPr/>
        </p:nvSpPr>
        <p:spPr>
          <a:xfrm flipH="false" flipV="false" rot="0">
            <a:off x="1506630" y="6716634"/>
            <a:ext cx="3176709" cy="3176709"/>
          </a:xfrm>
          <a:custGeom>
            <a:avLst/>
            <a:gdLst/>
            <a:ahLst/>
            <a:cxnLst/>
            <a:rect r="r" b="b" t="t" l="l"/>
            <a:pathLst>
              <a:path h="3176709" w="3176709">
                <a:moveTo>
                  <a:pt x="0" y="0"/>
                </a:moveTo>
                <a:lnTo>
                  <a:pt x="3176709" y="0"/>
                </a:lnTo>
                <a:lnTo>
                  <a:pt x="3176709" y="3176709"/>
                </a:lnTo>
                <a:lnTo>
                  <a:pt x="0" y="3176709"/>
                </a:lnTo>
                <a:lnTo>
                  <a:pt x="0" y="0"/>
                </a:lnTo>
                <a:close/>
              </a:path>
            </a:pathLst>
          </a:custGeom>
          <a:blipFill>
            <a:blip r:embed="rId4"/>
            <a:stretch>
              <a:fillRect l="0" t="0" r="0" b="0"/>
            </a:stretch>
          </a:blipFill>
        </p:spPr>
      </p:sp>
      <p:sp>
        <p:nvSpPr>
          <p:cNvPr name="Freeform 16" id="16"/>
          <p:cNvSpPr/>
          <p:nvPr/>
        </p:nvSpPr>
        <p:spPr>
          <a:xfrm flipH="false" flipV="false" rot="0">
            <a:off x="7555646" y="6716634"/>
            <a:ext cx="3176709" cy="3176709"/>
          </a:xfrm>
          <a:custGeom>
            <a:avLst/>
            <a:gdLst/>
            <a:ahLst/>
            <a:cxnLst/>
            <a:rect r="r" b="b" t="t" l="l"/>
            <a:pathLst>
              <a:path h="3176709" w="3176709">
                <a:moveTo>
                  <a:pt x="0" y="0"/>
                </a:moveTo>
                <a:lnTo>
                  <a:pt x="3176708" y="0"/>
                </a:lnTo>
                <a:lnTo>
                  <a:pt x="3176708" y="3176709"/>
                </a:lnTo>
                <a:lnTo>
                  <a:pt x="0" y="3176709"/>
                </a:lnTo>
                <a:lnTo>
                  <a:pt x="0" y="0"/>
                </a:lnTo>
                <a:close/>
              </a:path>
            </a:pathLst>
          </a:custGeom>
          <a:blipFill>
            <a:blip r:embed="rId5"/>
            <a:stretch>
              <a:fillRect l="0" t="0" r="0" b="0"/>
            </a:stretch>
          </a:blipFill>
        </p:spPr>
      </p:sp>
      <p:sp>
        <p:nvSpPr>
          <p:cNvPr name="Freeform 17" id="17"/>
          <p:cNvSpPr/>
          <p:nvPr/>
        </p:nvSpPr>
        <p:spPr>
          <a:xfrm flipH="false" flipV="false" rot="0">
            <a:off x="13638839" y="6716634"/>
            <a:ext cx="3176709" cy="3176709"/>
          </a:xfrm>
          <a:custGeom>
            <a:avLst/>
            <a:gdLst/>
            <a:ahLst/>
            <a:cxnLst/>
            <a:rect r="r" b="b" t="t" l="l"/>
            <a:pathLst>
              <a:path h="3176709" w="3176709">
                <a:moveTo>
                  <a:pt x="0" y="0"/>
                </a:moveTo>
                <a:lnTo>
                  <a:pt x="3176708" y="0"/>
                </a:lnTo>
                <a:lnTo>
                  <a:pt x="3176708" y="3176709"/>
                </a:lnTo>
                <a:lnTo>
                  <a:pt x="0" y="3176709"/>
                </a:lnTo>
                <a:lnTo>
                  <a:pt x="0" y="0"/>
                </a:lnTo>
                <a:close/>
              </a:path>
            </a:pathLst>
          </a:custGeom>
          <a:blipFill>
            <a:blip r:embed="rId6"/>
            <a:stretch>
              <a:fillRect l="0" t="0" r="0" b="0"/>
            </a:stretch>
          </a:blipFill>
        </p:spPr>
      </p:sp>
      <p:grpSp>
        <p:nvGrpSpPr>
          <p:cNvPr name="Group 18" id="18"/>
          <p:cNvGrpSpPr/>
          <p:nvPr/>
        </p:nvGrpSpPr>
        <p:grpSpPr>
          <a:xfrm rot="0">
            <a:off x="12166386" y="0"/>
            <a:ext cx="6044772" cy="5143500"/>
            <a:chOff x="0" y="0"/>
            <a:chExt cx="1432835" cy="1219200"/>
          </a:xfrm>
        </p:grpSpPr>
        <p:sp>
          <p:nvSpPr>
            <p:cNvPr name="Freeform 19" id="19"/>
            <p:cNvSpPr/>
            <p:nvPr/>
          </p:nvSpPr>
          <p:spPr>
            <a:xfrm flipH="false" flipV="false" rot="0">
              <a:off x="0" y="0"/>
              <a:ext cx="1432835" cy="1219200"/>
            </a:xfrm>
            <a:custGeom>
              <a:avLst/>
              <a:gdLst/>
              <a:ahLst/>
              <a:cxnLst/>
              <a:rect r="r" b="b" t="t" l="l"/>
              <a:pathLst>
                <a:path h="1219200" w="1432835">
                  <a:moveTo>
                    <a:pt x="0" y="0"/>
                  </a:moveTo>
                  <a:lnTo>
                    <a:pt x="1432835" y="0"/>
                  </a:lnTo>
                  <a:lnTo>
                    <a:pt x="1432835" y="1219200"/>
                  </a:lnTo>
                  <a:lnTo>
                    <a:pt x="0" y="1219200"/>
                  </a:lnTo>
                  <a:close/>
                </a:path>
              </a:pathLst>
            </a:custGeom>
            <a:solidFill>
              <a:srgbClr val="3DCAB1"/>
            </a:solidFill>
          </p:spPr>
        </p:sp>
        <p:sp>
          <p:nvSpPr>
            <p:cNvPr name="TextBox 20" id="20"/>
            <p:cNvSpPr txBox="true"/>
            <p:nvPr/>
          </p:nvSpPr>
          <p:spPr>
            <a:xfrm>
              <a:off x="0" y="-38100"/>
              <a:ext cx="1432835" cy="12573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3638839" y="1568593"/>
            <a:ext cx="3222881" cy="3041507"/>
          </a:xfrm>
          <a:custGeom>
            <a:avLst/>
            <a:gdLst/>
            <a:ahLst/>
            <a:cxnLst/>
            <a:rect r="r" b="b" t="t" l="l"/>
            <a:pathLst>
              <a:path h="3041507" w="3222881">
                <a:moveTo>
                  <a:pt x="0" y="0"/>
                </a:moveTo>
                <a:lnTo>
                  <a:pt x="3222881" y="0"/>
                </a:lnTo>
                <a:lnTo>
                  <a:pt x="3222881" y="3041507"/>
                </a:lnTo>
                <a:lnTo>
                  <a:pt x="0" y="3041507"/>
                </a:lnTo>
                <a:lnTo>
                  <a:pt x="0" y="0"/>
                </a:lnTo>
                <a:close/>
              </a:path>
            </a:pathLst>
          </a:custGeom>
          <a:blipFill>
            <a:blip r:embed="rId7"/>
            <a:stretch>
              <a:fillRect l="0" t="0" r="0" b="0"/>
            </a:stretch>
          </a:blipFill>
        </p:spPr>
      </p:sp>
      <p:sp>
        <p:nvSpPr>
          <p:cNvPr name="TextBox 22" id="22"/>
          <p:cNvSpPr txBox="true"/>
          <p:nvPr/>
        </p:nvSpPr>
        <p:spPr>
          <a:xfrm rot="0">
            <a:off x="1221496" y="2707518"/>
            <a:ext cx="5814035" cy="356235"/>
          </a:xfrm>
          <a:prstGeom prst="rect">
            <a:avLst/>
          </a:prstGeom>
        </p:spPr>
        <p:txBody>
          <a:bodyPr anchor="t" rtlCol="false" tIns="0" lIns="0" bIns="0" rIns="0">
            <a:spAutoFit/>
          </a:bodyPr>
          <a:lstStyle/>
          <a:p>
            <a:pPr algn="l">
              <a:lnSpc>
                <a:spcPts val="2880"/>
              </a:lnSpc>
            </a:pPr>
            <a:r>
              <a:rPr lang="en-US" sz="1800">
                <a:solidFill>
                  <a:srgbClr val="545454"/>
                </a:solidFill>
                <a:latin typeface="Poppins"/>
                <a:ea typeface="Poppins"/>
                <a:cs typeface="Poppins"/>
                <a:sym typeface="Poppins"/>
              </a:rPr>
              <a:t>Components and Measurements</a:t>
            </a:r>
          </a:p>
        </p:txBody>
      </p:sp>
      <p:sp>
        <p:nvSpPr>
          <p:cNvPr name="TextBox 23" id="23"/>
          <p:cNvSpPr txBox="true"/>
          <p:nvPr/>
        </p:nvSpPr>
        <p:spPr>
          <a:xfrm rot="0">
            <a:off x="6938901" y="5755031"/>
            <a:ext cx="3509493" cy="4248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Relay</a:t>
            </a:r>
          </a:p>
        </p:txBody>
      </p:sp>
      <p:sp>
        <p:nvSpPr>
          <p:cNvPr name="TextBox 24" id="24"/>
          <p:cNvSpPr txBox="true"/>
          <p:nvPr/>
        </p:nvSpPr>
        <p:spPr>
          <a:xfrm rot="0">
            <a:off x="13110784" y="5755031"/>
            <a:ext cx="3509493" cy="4248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5V DC Motor</a:t>
            </a:r>
          </a:p>
        </p:txBody>
      </p:sp>
      <p:sp>
        <p:nvSpPr>
          <p:cNvPr name="TextBox 25" id="25"/>
          <p:cNvSpPr txBox="true"/>
          <p:nvPr/>
        </p:nvSpPr>
        <p:spPr>
          <a:xfrm rot="0">
            <a:off x="1028700" y="6227260"/>
            <a:ext cx="3966170" cy="356235"/>
          </a:xfrm>
          <a:prstGeom prst="rect">
            <a:avLst/>
          </a:prstGeom>
        </p:spPr>
        <p:txBody>
          <a:bodyPr anchor="t" rtlCol="false" tIns="0" lIns="0" bIns="0" rIns="0">
            <a:spAutoFit/>
          </a:bodyPr>
          <a:lstStyle/>
          <a:p>
            <a:pPr algn="l">
              <a:lnSpc>
                <a:spcPts val="2880"/>
              </a:lnSpc>
            </a:pPr>
            <a:r>
              <a:rPr lang="en-US" sz="1800">
                <a:solidFill>
                  <a:srgbClr val="FFFFFF"/>
                </a:solidFill>
                <a:latin typeface="Poppins"/>
                <a:ea typeface="Poppins"/>
                <a:cs typeface="Poppins"/>
                <a:sym typeface="Poppins"/>
              </a:rPr>
              <a:t>Soil moisture</a:t>
            </a:r>
          </a:p>
        </p:txBody>
      </p:sp>
      <p:sp>
        <p:nvSpPr>
          <p:cNvPr name="TextBox 26" id="26"/>
          <p:cNvSpPr txBox="true"/>
          <p:nvPr/>
        </p:nvSpPr>
        <p:spPr>
          <a:xfrm rot="0">
            <a:off x="6938901" y="6227260"/>
            <a:ext cx="3966170" cy="356235"/>
          </a:xfrm>
          <a:prstGeom prst="rect">
            <a:avLst/>
          </a:prstGeom>
        </p:spPr>
        <p:txBody>
          <a:bodyPr anchor="t" rtlCol="false" tIns="0" lIns="0" bIns="0" rIns="0">
            <a:spAutoFit/>
          </a:bodyPr>
          <a:lstStyle/>
          <a:p>
            <a:pPr algn="l">
              <a:lnSpc>
                <a:spcPts val="2880"/>
              </a:lnSpc>
            </a:pPr>
            <a:r>
              <a:rPr lang="en-US" sz="1800">
                <a:solidFill>
                  <a:srgbClr val="FFFFFF"/>
                </a:solidFill>
                <a:latin typeface="Poppins"/>
                <a:ea typeface="Poppins"/>
                <a:cs typeface="Poppins"/>
                <a:sym typeface="Poppins"/>
              </a:rPr>
              <a:t>Safety</a:t>
            </a:r>
          </a:p>
        </p:txBody>
      </p:sp>
      <p:sp>
        <p:nvSpPr>
          <p:cNvPr name="TextBox 27" id="27"/>
          <p:cNvSpPr txBox="true"/>
          <p:nvPr/>
        </p:nvSpPr>
        <p:spPr>
          <a:xfrm rot="0">
            <a:off x="12974148" y="611531"/>
            <a:ext cx="3509493" cy="4248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SD Card Module</a:t>
            </a:r>
          </a:p>
        </p:txBody>
      </p:sp>
      <p:sp>
        <p:nvSpPr>
          <p:cNvPr name="TextBox 28" id="28"/>
          <p:cNvSpPr txBox="true"/>
          <p:nvPr/>
        </p:nvSpPr>
        <p:spPr>
          <a:xfrm rot="0">
            <a:off x="12974148" y="1036135"/>
            <a:ext cx="5814035" cy="356235"/>
          </a:xfrm>
          <a:prstGeom prst="rect">
            <a:avLst/>
          </a:prstGeom>
        </p:spPr>
        <p:txBody>
          <a:bodyPr anchor="t" rtlCol="false" tIns="0" lIns="0" bIns="0" rIns="0">
            <a:spAutoFit/>
          </a:bodyPr>
          <a:lstStyle/>
          <a:p>
            <a:pPr algn="l">
              <a:lnSpc>
                <a:spcPts val="2880"/>
              </a:lnSpc>
            </a:pPr>
            <a:r>
              <a:rPr lang="en-US" sz="1800">
                <a:solidFill>
                  <a:srgbClr val="FFFFFF"/>
                </a:solidFill>
                <a:latin typeface="Poppins"/>
                <a:ea typeface="Poppins"/>
                <a:cs typeface="Poppins"/>
                <a:sym typeface="Poppins"/>
              </a:rPr>
              <a:t>Store and read data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3" id="3"/>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5400000">
            <a:off x="-1974906" y="1974906"/>
            <a:ext cx="4238545" cy="288733"/>
            <a:chOff x="0" y="0"/>
            <a:chExt cx="1116325" cy="76045"/>
          </a:xfrm>
        </p:grpSpPr>
        <p:sp>
          <p:nvSpPr>
            <p:cNvPr name="Freeform 5" id="5"/>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6" id="6"/>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261649" y="2843031"/>
            <a:ext cx="7621877" cy="5716408"/>
          </a:xfrm>
          <a:custGeom>
            <a:avLst/>
            <a:gdLst/>
            <a:ahLst/>
            <a:cxnLst/>
            <a:rect r="r" b="b" t="t" l="l"/>
            <a:pathLst>
              <a:path h="5716408" w="7621877">
                <a:moveTo>
                  <a:pt x="0" y="0"/>
                </a:moveTo>
                <a:lnTo>
                  <a:pt x="7621877" y="0"/>
                </a:lnTo>
                <a:lnTo>
                  <a:pt x="7621877" y="5716408"/>
                </a:lnTo>
                <a:lnTo>
                  <a:pt x="0" y="5716408"/>
                </a:lnTo>
                <a:lnTo>
                  <a:pt x="0" y="0"/>
                </a:lnTo>
                <a:close/>
              </a:path>
            </a:pathLst>
          </a:custGeom>
          <a:blipFill>
            <a:blip r:embed="rId4"/>
            <a:stretch>
              <a:fillRect l="0" t="0" r="0" b="0"/>
            </a:stretch>
          </a:blipFill>
        </p:spPr>
      </p:sp>
      <p:sp>
        <p:nvSpPr>
          <p:cNvPr name="Freeform 8" id="8"/>
          <p:cNvSpPr/>
          <p:nvPr/>
        </p:nvSpPr>
        <p:spPr>
          <a:xfrm flipH="false" flipV="false" rot="0">
            <a:off x="9856443" y="2843031"/>
            <a:ext cx="7709497" cy="5664619"/>
          </a:xfrm>
          <a:custGeom>
            <a:avLst/>
            <a:gdLst/>
            <a:ahLst/>
            <a:cxnLst/>
            <a:rect r="r" b="b" t="t" l="l"/>
            <a:pathLst>
              <a:path h="5664619" w="7709497">
                <a:moveTo>
                  <a:pt x="0" y="0"/>
                </a:moveTo>
                <a:lnTo>
                  <a:pt x="7709497" y="0"/>
                </a:lnTo>
                <a:lnTo>
                  <a:pt x="7709497" y="5664619"/>
                </a:lnTo>
                <a:lnTo>
                  <a:pt x="0" y="5664619"/>
                </a:lnTo>
                <a:lnTo>
                  <a:pt x="0" y="0"/>
                </a:lnTo>
                <a:close/>
              </a:path>
            </a:pathLst>
          </a:custGeom>
          <a:blipFill>
            <a:blip r:embed="rId5"/>
            <a:stretch>
              <a:fillRect l="0" t="0" r="0" b="0"/>
            </a:stretch>
          </a:blipFill>
        </p:spPr>
      </p:sp>
      <p:sp>
        <p:nvSpPr>
          <p:cNvPr name="TextBox 9" id="9"/>
          <p:cNvSpPr txBox="true"/>
          <p:nvPr/>
        </p:nvSpPr>
        <p:spPr>
          <a:xfrm rot="0">
            <a:off x="1028700" y="1450109"/>
            <a:ext cx="6248286"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Complete  Setup</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21496" y="1456808"/>
            <a:ext cx="9761815" cy="904875"/>
          </a:xfrm>
          <a:prstGeom prst="rect">
            <a:avLst/>
          </a:prstGeom>
        </p:spPr>
        <p:txBody>
          <a:bodyPr anchor="t" rtlCol="false" tIns="0" lIns="0" bIns="0" rIns="0">
            <a:spAutoFit/>
          </a:bodyPr>
          <a:lstStyle/>
          <a:p>
            <a:pPr algn="l">
              <a:lnSpc>
                <a:spcPts val="6719"/>
              </a:lnSpc>
            </a:pPr>
            <a:r>
              <a:rPr lang="en-US" sz="5599" b="true">
                <a:solidFill>
                  <a:srgbClr val="101010"/>
                </a:solidFill>
                <a:latin typeface="Poppins Bold"/>
                <a:ea typeface="Poppins Bold"/>
                <a:cs typeface="Poppins Bold"/>
                <a:sym typeface="Poppins Bold"/>
              </a:rPr>
              <a:t>Experimental Procedure</a:t>
            </a:r>
          </a:p>
        </p:txBody>
      </p:sp>
      <p:grpSp>
        <p:nvGrpSpPr>
          <p:cNvPr name="Group 3" id="3"/>
          <p:cNvGrpSpPr/>
          <p:nvPr/>
        </p:nvGrpSpPr>
        <p:grpSpPr>
          <a:xfrm rot="0">
            <a:off x="0" y="5153025"/>
            <a:ext cx="6121614" cy="5143500"/>
            <a:chOff x="0" y="0"/>
            <a:chExt cx="1451049" cy="1219200"/>
          </a:xfrm>
        </p:grpSpPr>
        <p:sp>
          <p:nvSpPr>
            <p:cNvPr name="Freeform 4" id="4"/>
            <p:cNvSpPr/>
            <p:nvPr/>
          </p:nvSpPr>
          <p:spPr>
            <a:xfrm flipH="false" flipV="false" rot="0">
              <a:off x="0" y="0"/>
              <a:ext cx="1451049" cy="1219200"/>
            </a:xfrm>
            <a:custGeom>
              <a:avLst/>
              <a:gdLst/>
              <a:ahLst/>
              <a:cxnLst/>
              <a:rect r="r" b="b" t="t" l="l"/>
              <a:pathLst>
                <a:path h="1219200" w="1451049">
                  <a:moveTo>
                    <a:pt x="0" y="0"/>
                  </a:moveTo>
                  <a:lnTo>
                    <a:pt x="1451049" y="0"/>
                  </a:lnTo>
                  <a:lnTo>
                    <a:pt x="1451049" y="1219200"/>
                  </a:lnTo>
                  <a:lnTo>
                    <a:pt x="0" y="1219200"/>
                  </a:lnTo>
                  <a:close/>
                </a:path>
              </a:pathLst>
            </a:custGeom>
            <a:solidFill>
              <a:srgbClr val="071C42"/>
            </a:solidFill>
          </p:spPr>
        </p:sp>
        <p:sp>
          <p:nvSpPr>
            <p:cNvPr name="TextBox 5" id="5"/>
            <p:cNvSpPr txBox="true"/>
            <p:nvPr/>
          </p:nvSpPr>
          <p:spPr>
            <a:xfrm>
              <a:off x="0" y="-38100"/>
              <a:ext cx="1451049" cy="12573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221496" y="2707518"/>
            <a:ext cx="6965721" cy="356235"/>
          </a:xfrm>
          <a:prstGeom prst="rect">
            <a:avLst/>
          </a:prstGeom>
        </p:spPr>
        <p:txBody>
          <a:bodyPr anchor="t" rtlCol="false" tIns="0" lIns="0" bIns="0" rIns="0">
            <a:spAutoFit/>
          </a:bodyPr>
          <a:lstStyle/>
          <a:p>
            <a:pPr algn="l">
              <a:lnSpc>
                <a:spcPts val="2880"/>
              </a:lnSpc>
            </a:pPr>
            <a:r>
              <a:rPr lang="en-US" sz="1800">
                <a:solidFill>
                  <a:srgbClr val="545454"/>
                </a:solidFill>
                <a:latin typeface="Poppins"/>
                <a:ea typeface="Poppins"/>
                <a:cs typeface="Poppins"/>
                <a:sym typeface="Poppins"/>
              </a:rPr>
              <a:t>Part 1 - Taking measurements and generating a model</a:t>
            </a:r>
          </a:p>
        </p:txBody>
      </p:sp>
      <p:sp>
        <p:nvSpPr>
          <p:cNvPr name="Freeform 7" id="7"/>
          <p:cNvSpPr/>
          <p:nvPr/>
        </p:nvSpPr>
        <p:spPr>
          <a:xfrm flipH="false" flipV="false" rot="0">
            <a:off x="8187217" y="-1676277"/>
            <a:ext cx="12260528" cy="8939040"/>
          </a:xfrm>
          <a:custGeom>
            <a:avLst/>
            <a:gdLst/>
            <a:ahLst/>
            <a:cxnLst/>
            <a:rect r="r" b="b" t="t" l="l"/>
            <a:pathLst>
              <a:path h="8939040" w="12260528">
                <a:moveTo>
                  <a:pt x="0" y="0"/>
                </a:moveTo>
                <a:lnTo>
                  <a:pt x="12260529" y="0"/>
                </a:lnTo>
                <a:lnTo>
                  <a:pt x="12260529" y="8939040"/>
                </a:lnTo>
                <a:lnTo>
                  <a:pt x="0" y="89390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4545544" y="5143500"/>
            <a:ext cx="6191428" cy="5143500"/>
            <a:chOff x="0" y="0"/>
            <a:chExt cx="1467598" cy="1219200"/>
          </a:xfrm>
        </p:grpSpPr>
        <p:sp>
          <p:nvSpPr>
            <p:cNvPr name="Freeform 9" id="9"/>
            <p:cNvSpPr/>
            <p:nvPr/>
          </p:nvSpPr>
          <p:spPr>
            <a:xfrm flipH="false" flipV="false" rot="0">
              <a:off x="0" y="0"/>
              <a:ext cx="1467598" cy="1219200"/>
            </a:xfrm>
            <a:custGeom>
              <a:avLst/>
              <a:gdLst/>
              <a:ahLst/>
              <a:cxnLst/>
              <a:rect r="r" b="b" t="t" l="l"/>
              <a:pathLst>
                <a:path h="1219200" w="1467598">
                  <a:moveTo>
                    <a:pt x="0" y="0"/>
                  </a:moveTo>
                  <a:lnTo>
                    <a:pt x="1467598" y="0"/>
                  </a:lnTo>
                  <a:lnTo>
                    <a:pt x="1467598" y="1219200"/>
                  </a:lnTo>
                  <a:lnTo>
                    <a:pt x="0" y="1219200"/>
                  </a:lnTo>
                  <a:close/>
                </a:path>
              </a:pathLst>
            </a:custGeom>
            <a:solidFill>
              <a:srgbClr val="3DCAB1"/>
            </a:solidFill>
          </p:spPr>
        </p:sp>
        <p:sp>
          <p:nvSpPr>
            <p:cNvPr name="TextBox 10" id="10"/>
            <p:cNvSpPr txBox="true"/>
            <p:nvPr/>
          </p:nvSpPr>
          <p:spPr>
            <a:xfrm>
              <a:off x="0" y="-38100"/>
              <a:ext cx="1467598"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9144000" y="5143500"/>
            <a:ext cx="9144000" cy="5143500"/>
            <a:chOff x="0" y="0"/>
            <a:chExt cx="2167467" cy="1219200"/>
          </a:xfrm>
        </p:grpSpPr>
        <p:sp>
          <p:nvSpPr>
            <p:cNvPr name="Freeform 12" id="12"/>
            <p:cNvSpPr/>
            <p:nvPr/>
          </p:nvSpPr>
          <p:spPr>
            <a:xfrm flipH="false" flipV="false" rot="0">
              <a:off x="0" y="0"/>
              <a:ext cx="2167467" cy="1219200"/>
            </a:xfrm>
            <a:custGeom>
              <a:avLst/>
              <a:gdLst/>
              <a:ahLst/>
              <a:cxnLst/>
              <a:rect r="r" b="b" t="t" l="l"/>
              <a:pathLst>
                <a:path h="1219200" w="2167467">
                  <a:moveTo>
                    <a:pt x="0" y="0"/>
                  </a:moveTo>
                  <a:lnTo>
                    <a:pt x="2167467" y="0"/>
                  </a:lnTo>
                  <a:lnTo>
                    <a:pt x="2167467" y="1219200"/>
                  </a:lnTo>
                  <a:lnTo>
                    <a:pt x="0" y="1219200"/>
                  </a:lnTo>
                  <a:close/>
                </a:path>
              </a:pathLst>
            </a:custGeom>
            <a:solidFill>
              <a:srgbClr val="071C42"/>
            </a:solidFill>
          </p:spPr>
        </p:sp>
        <p:sp>
          <p:nvSpPr>
            <p:cNvPr name="TextBox 13" id="13"/>
            <p:cNvSpPr txBox="true"/>
            <p:nvPr/>
          </p:nvSpPr>
          <p:spPr>
            <a:xfrm>
              <a:off x="0" y="-38100"/>
              <a:ext cx="2167467" cy="1257300"/>
            </a:xfrm>
            <a:prstGeom prst="rect">
              <a:avLst/>
            </a:prstGeom>
          </p:spPr>
          <p:txBody>
            <a:bodyPr anchor="ctr" rtlCol="false" tIns="50800" lIns="50800" bIns="50800" rIns="50800"/>
            <a:lstStyle/>
            <a:p>
              <a:pPr algn="ctr">
                <a:lnSpc>
                  <a:spcPts val="2659"/>
                </a:lnSpc>
                <a:spcBef>
                  <a:spcPct val="0"/>
                </a:spcBef>
              </a:pPr>
            </a:p>
          </p:txBody>
        </p:sp>
      </p:grpSp>
      <p:sp>
        <p:nvSpPr>
          <p:cNvPr name="AutoShape 14" id="14"/>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15" id="15"/>
          <p:cNvSpPr/>
          <p:nvPr/>
        </p:nvSpPr>
        <p:spPr>
          <a:xfrm flipH="false" flipV="false" rot="0">
            <a:off x="4890554" y="5890932"/>
            <a:ext cx="3928838" cy="3928838"/>
          </a:xfrm>
          <a:custGeom>
            <a:avLst/>
            <a:gdLst/>
            <a:ahLst/>
            <a:cxnLst/>
            <a:rect r="r" b="b" t="t" l="l"/>
            <a:pathLst>
              <a:path h="3928838" w="3928838">
                <a:moveTo>
                  <a:pt x="0" y="0"/>
                </a:moveTo>
                <a:lnTo>
                  <a:pt x="3928837" y="0"/>
                </a:lnTo>
                <a:lnTo>
                  <a:pt x="3928837" y="3928838"/>
                </a:lnTo>
                <a:lnTo>
                  <a:pt x="0" y="3928838"/>
                </a:lnTo>
                <a:lnTo>
                  <a:pt x="0" y="0"/>
                </a:lnTo>
                <a:close/>
              </a:path>
            </a:pathLst>
          </a:custGeom>
          <a:blipFill>
            <a:blip r:embed="rId4"/>
            <a:stretch>
              <a:fillRect l="0" t="0" r="0" b="0"/>
            </a:stretch>
          </a:blipFill>
        </p:spPr>
      </p:sp>
      <p:sp>
        <p:nvSpPr>
          <p:cNvPr name="Freeform 16" id="16"/>
          <p:cNvSpPr/>
          <p:nvPr/>
        </p:nvSpPr>
        <p:spPr>
          <a:xfrm flipH="false" flipV="false" rot="0">
            <a:off x="387424" y="5844705"/>
            <a:ext cx="3741090" cy="3741090"/>
          </a:xfrm>
          <a:custGeom>
            <a:avLst/>
            <a:gdLst/>
            <a:ahLst/>
            <a:cxnLst/>
            <a:rect r="r" b="b" t="t" l="l"/>
            <a:pathLst>
              <a:path h="3741090" w="3741090">
                <a:moveTo>
                  <a:pt x="0" y="0"/>
                </a:moveTo>
                <a:lnTo>
                  <a:pt x="3741090" y="0"/>
                </a:lnTo>
                <a:lnTo>
                  <a:pt x="3741090" y="3741090"/>
                </a:lnTo>
                <a:lnTo>
                  <a:pt x="0" y="3741090"/>
                </a:lnTo>
                <a:lnTo>
                  <a:pt x="0" y="0"/>
                </a:lnTo>
                <a:close/>
              </a:path>
            </a:pathLst>
          </a:custGeom>
          <a:blipFill>
            <a:blip r:embed="rId5"/>
            <a:stretch>
              <a:fillRect l="0" t="0" r="0" b="0"/>
            </a:stretch>
          </a:blipFill>
        </p:spPr>
      </p:sp>
      <p:sp>
        <p:nvSpPr>
          <p:cNvPr name="TextBox 17" id="17"/>
          <p:cNvSpPr txBox="true"/>
          <p:nvPr/>
        </p:nvSpPr>
        <p:spPr>
          <a:xfrm rot="0">
            <a:off x="9877046" y="5814732"/>
            <a:ext cx="7677909" cy="3613785"/>
          </a:xfrm>
          <a:prstGeom prst="rect">
            <a:avLst/>
          </a:prstGeom>
        </p:spPr>
        <p:txBody>
          <a:bodyPr anchor="t" rtlCol="false" tIns="0" lIns="0" bIns="0" rIns="0">
            <a:spAutoFit/>
          </a:bodyPr>
          <a:lstStyle/>
          <a:p>
            <a:pPr algn="l">
              <a:lnSpc>
                <a:spcPts val="2880"/>
              </a:lnSpc>
            </a:pPr>
            <a:r>
              <a:rPr lang="en-US" sz="1800">
                <a:solidFill>
                  <a:srgbClr val="FFFFFF"/>
                </a:solidFill>
                <a:latin typeface="Poppins"/>
                <a:ea typeface="Poppins"/>
                <a:cs typeface="Poppins"/>
                <a:sym typeface="Poppins"/>
              </a:rPr>
              <a:t>The first part of our project involves the use of an Arduino Uno board, along with several sensors to measure temperature, humidity, solar radiation, and soil moisture. These environmental variables are crucial in understanding how soil moisture varies and how it can be controlled for optimal plant growth. By collecting data from the sensors and analyzing it using Python, we can build a machine learning model that will help us predict soil moisture levels based on the other environmental factors. This model will be used in the second part of our project, where we will use it to control a water pump and maintain optimal soil moisture levels.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21496" y="1456808"/>
            <a:ext cx="9761815" cy="904875"/>
          </a:xfrm>
          <a:prstGeom prst="rect">
            <a:avLst/>
          </a:prstGeom>
        </p:spPr>
        <p:txBody>
          <a:bodyPr anchor="t" rtlCol="false" tIns="0" lIns="0" bIns="0" rIns="0">
            <a:spAutoFit/>
          </a:bodyPr>
          <a:lstStyle/>
          <a:p>
            <a:pPr algn="l">
              <a:lnSpc>
                <a:spcPts val="6719"/>
              </a:lnSpc>
            </a:pPr>
            <a:r>
              <a:rPr lang="en-US" sz="5599" b="true">
                <a:solidFill>
                  <a:srgbClr val="101010"/>
                </a:solidFill>
                <a:latin typeface="Poppins Bold"/>
                <a:ea typeface="Poppins Bold"/>
                <a:cs typeface="Poppins Bold"/>
                <a:sym typeface="Poppins Bold"/>
              </a:rPr>
              <a:t>Experimental Procedure</a:t>
            </a:r>
          </a:p>
        </p:txBody>
      </p:sp>
      <p:sp>
        <p:nvSpPr>
          <p:cNvPr name="TextBox 3" id="3"/>
          <p:cNvSpPr txBox="true"/>
          <p:nvPr/>
        </p:nvSpPr>
        <p:spPr>
          <a:xfrm rot="0">
            <a:off x="1221496" y="2707518"/>
            <a:ext cx="5814035" cy="356235"/>
          </a:xfrm>
          <a:prstGeom prst="rect">
            <a:avLst/>
          </a:prstGeom>
        </p:spPr>
        <p:txBody>
          <a:bodyPr anchor="t" rtlCol="false" tIns="0" lIns="0" bIns="0" rIns="0">
            <a:spAutoFit/>
          </a:bodyPr>
          <a:lstStyle/>
          <a:p>
            <a:pPr algn="l">
              <a:lnSpc>
                <a:spcPts val="2880"/>
              </a:lnSpc>
            </a:pPr>
            <a:r>
              <a:rPr lang="en-US" sz="1800">
                <a:solidFill>
                  <a:srgbClr val="545454"/>
                </a:solidFill>
                <a:latin typeface="Poppins"/>
                <a:ea typeface="Poppins"/>
                <a:cs typeface="Poppins"/>
                <a:sym typeface="Poppins"/>
              </a:rPr>
              <a:t>Part 2 - Real-time Data Processing</a:t>
            </a:r>
          </a:p>
        </p:txBody>
      </p:sp>
      <p:sp>
        <p:nvSpPr>
          <p:cNvPr name="Freeform 4" id="4"/>
          <p:cNvSpPr/>
          <p:nvPr/>
        </p:nvSpPr>
        <p:spPr>
          <a:xfrm flipH="false" flipV="false" rot="0">
            <a:off x="8187217" y="-1676277"/>
            <a:ext cx="12260528" cy="8939040"/>
          </a:xfrm>
          <a:custGeom>
            <a:avLst/>
            <a:gdLst/>
            <a:ahLst/>
            <a:cxnLst/>
            <a:rect r="r" b="b" t="t" l="l"/>
            <a:pathLst>
              <a:path h="8939040" w="12260528">
                <a:moveTo>
                  <a:pt x="0" y="0"/>
                </a:moveTo>
                <a:lnTo>
                  <a:pt x="12260529" y="0"/>
                </a:lnTo>
                <a:lnTo>
                  <a:pt x="12260529" y="8939040"/>
                </a:lnTo>
                <a:lnTo>
                  <a:pt x="0" y="89390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80727" y="5143500"/>
            <a:ext cx="11617699" cy="5143500"/>
            <a:chOff x="0" y="0"/>
            <a:chExt cx="2753825" cy="1219200"/>
          </a:xfrm>
        </p:grpSpPr>
        <p:sp>
          <p:nvSpPr>
            <p:cNvPr name="Freeform 6" id="6"/>
            <p:cNvSpPr/>
            <p:nvPr/>
          </p:nvSpPr>
          <p:spPr>
            <a:xfrm flipH="false" flipV="false" rot="0">
              <a:off x="0" y="0"/>
              <a:ext cx="2753825" cy="1219200"/>
            </a:xfrm>
            <a:custGeom>
              <a:avLst/>
              <a:gdLst/>
              <a:ahLst/>
              <a:cxnLst/>
              <a:rect r="r" b="b" t="t" l="l"/>
              <a:pathLst>
                <a:path h="1219200" w="2753825">
                  <a:moveTo>
                    <a:pt x="0" y="0"/>
                  </a:moveTo>
                  <a:lnTo>
                    <a:pt x="2753825" y="0"/>
                  </a:lnTo>
                  <a:lnTo>
                    <a:pt x="2753825" y="1219200"/>
                  </a:lnTo>
                  <a:lnTo>
                    <a:pt x="0" y="1219200"/>
                  </a:lnTo>
                  <a:close/>
                </a:path>
              </a:pathLst>
            </a:custGeom>
            <a:solidFill>
              <a:srgbClr val="3DCAB1"/>
            </a:solidFill>
          </p:spPr>
        </p:sp>
        <p:sp>
          <p:nvSpPr>
            <p:cNvPr name="TextBox 7" id="7"/>
            <p:cNvSpPr txBox="true"/>
            <p:nvPr/>
          </p:nvSpPr>
          <p:spPr>
            <a:xfrm>
              <a:off x="0" y="-38100"/>
              <a:ext cx="2753825"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144000" y="5143500"/>
            <a:ext cx="9144000" cy="5143500"/>
            <a:chOff x="0" y="0"/>
            <a:chExt cx="2167467" cy="1219200"/>
          </a:xfrm>
        </p:grpSpPr>
        <p:sp>
          <p:nvSpPr>
            <p:cNvPr name="Freeform 9" id="9"/>
            <p:cNvSpPr/>
            <p:nvPr/>
          </p:nvSpPr>
          <p:spPr>
            <a:xfrm flipH="false" flipV="false" rot="0">
              <a:off x="0" y="0"/>
              <a:ext cx="2167467" cy="1219200"/>
            </a:xfrm>
            <a:custGeom>
              <a:avLst/>
              <a:gdLst/>
              <a:ahLst/>
              <a:cxnLst/>
              <a:rect r="r" b="b" t="t" l="l"/>
              <a:pathLst>
                <a:path h="1219200" w="2167467">
                  <a:moveTo>
                    <a:pt x="0" y="0"/>
                  </a:moveTo>
                  <a:lnTo>
                    <a:pt x="2167467" y="0"/>
                  </a:lnTo>
                  <a:lnTo>
                    <a:pt x="2167467" y="1219200"/>
                  </a:lnTo>
                  <a:lnTo>
                    <a:pt x="0" y="1219200"/>
                  </a:lnTo>
                  <a:close/>
                </a:path>
              </a:pathLst>
            </a:custGeom>
            <a:solidFill>
              <a:srgbClr val="071C42"/>
            </a:solidFill>
          </p:spPr>
        </p:sp>
        <p:sp>
          <p:nvSpPr>
            <p:cNvPr name="TextBox 10" id="10"/>
            <p:cNvSpPr txBox="true"/>
            <p:nvPr/>
          </p:nvSpPr>
          <p:spPr>
            <a:xfrm>
              <a:off x="0" y="-38100"/>
              <a:ext cx="2167467" cy="1257300"/>
            </a:xfrm>
            <a:prstGeom prst="rect">
              <a:avLst/>
            </a:prstGeom>
          </p:spPr>
          <p:txBody>
            <a:bodyPr anchor="ctr" rtlCol="false" tIns="50800" lIns="50800" bIns="50800" rIns="50800"/>
            <a:lstStyle/>
            <a:p>
              <a:pPr algn="ctr">
                <a:lnSpc>
                  <a:spcPts val="2659"/>
                </a:lnSpc>
                <a:spcBef>
                  <a:spcPct val="0"/>
                </a:spcBef>
              </a:pPr>
            </a:p>
          </p:txBody>
        </p:sp>
      </p:grpSp>
      <p:sp>
        <p:nvSpPr>
          <p:cNvPr name="AutoShape 11" id="11"/>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12" id="12"/>
          <p:cNvSpPr/>
          <p:nvPr/>
        </p:nvSpPr>
        <p:spPr>
          <a:xfrm flipH="false" flipV="false" rot="0">
            <a:off x="1604689" y="6116758"/>
            <a:ext cx="6184671" cy="3477185"/>
          </a:xfrm>
          <a:custGeom>
            <a:avLst/>
            <a:gdLst/>
            <a:ahLst/>
            <a:cxnLst/>
            <a:rect r="r" b="b" t="t" l="l"/>
            <a:pathLst>
              <a:path h="3477185" w="6184671">
                <a:moveTo>
                  <a:pt x="0" y="0"/>
                </a:moveTo>
                <a:lnTo>
                  <a:pt x="6184671" y="0"/>
                </a:lnTo>
                <a:lnTo>
                  <a:pt x="6184671" y="3477186"/>
                </a:lnTo>
                <a:lnTo>
                  <a:pt x="0" y="3477186"/>
                </a:lnTo>
                <a:lnTo>
                  <a:pt x="0" y="0"/>
                </a:lnTo>
                <a:close/>
              </a:path>
            </a:pathLst>
          </a:custGeom>
          <a:blipFill>
            <a:blip r:embed="rId4"/>
            <a:stretch>
              <a:fillRect l="0" t="0" r="0" b="0"/>
            </a:stretch>
          </a:blipFill>
        </p:spPr>
      </p:sp>
      <p:sp>
        <p:nvSpPr>
          <p:cNvPr name="TextBox 13" id="13"/>
          <p:cNvSpPr txBox="true"/>
          <p:nvPr/>
        </p:nvSpPr>
        <p:spPr>
          <a:xfrm rot="0">
            <a:off x="10337945" y="6186571"/>
            <a:ext cx="7126674" cy="3251835"/>
          </a:xfrm>
          <a:prstGeom prst="rect">
            <a:avLst/>
          </a:prstGeom>
        </p:spPr>
        <p:txBody>
          <a:bodyPr anchor="t" rtlCol="false" tIns="0" lIns="0" bIns="0" rIns="0">
            <a:spAutoFit/>
          </a:bodyPr>
          <a:lstStyle/>
          <a:p>
            <a:pPr algn="l">
              <a:lnSpc>
                <a:spcPts val="2880"/>
              </a:lnSpc>
            </a:pPr>
            <a:r>
              <a:rPr lang="en-US" sz="1800">
                <a:solidFill>
                  <a:srgbClr val="FFFFFF"/>
                </a:solidFill>
                <a:latin typeface="Poppins"/>
                <a:ea typeface="Poppins"/>
                <a:cs typeface="Poppins"/>
                <a:sym typeface="Poppins"/>
              </a:rPr>
              <a:t>In the second part of the project, we will directly take input from the sensors and process the data using Arduino. We will use the machine learning model developed in the first part to predict soil moisture levels based on real-time temperature, humidity, and solar radiation data. When the predicted soil moisture level is below a predetermined threshold, the DC water pump connected to the Arduino board will start working. Once the soil moisture level increases to the desired level, the motor will stop working.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grpSp>
        <p:nvGrpSpPr>
          <p:cNvPr name="Group 2" id="2"/>
          <p:cNvGrpSpPr/>
          <p:nvPr/>
        </p:nvGrpSpPr>
        <p:grpSpPr>
          <a:xfrm rot="0">
            <a:off x="10171818" y="2882185"/>
            <a:ext cx="7087482" cy="6376115"/>
            <a:chOff x="0" y="0"/>
            <a:chExt cx="2168357" cy="1950720"/>
          </a:xfrm>
        </p:grpSpPr>
        <p:sp>
          <p:nvSpPr>
            <p:cNvPr name="Freeform 3" id="3"/>
            <p:cNvSpPr/>
            <p:nvPr/>
          </p:nvSpPr>
          <p:spPr>
            <a:xfrm flipH="false" flipV="false" rot="0">
              <a:off x="0" y="0"/>
              <a:ext cx="2168357" cy="1950720"/>
            </a:xfrm>
            <a:custGeom>
              <a:avLst/>
              <a:gdLst/>
              <a:ahLst/>
              <a:cxnLst/>
              <a:rect r="r" b="b" t="t" l="l"/>
              <a:pathLst>
                <a:path h="1950720" w="2168357">
                  <a:moveTo>
                    <a:pt x="0" y="0"/>
                  </a:moveTo>
                  <a:lnTo>
                    <a:pt x="2168357" y="0"/>
                  </a:lnTo>
                  <a:lnTo>
                    <a:pt x="2168357" y="1950720"/>
                  </a:lnTo>
                  <a:lnTo>
                    <a:pt x="0" y="1950720"/>
                  </a:lnTo>
                  <a:close/>
                </a:path>
              </a:pathLst>
            </a:custGeom>
            <a:solidFill>
              <a:srgbClr val="FFFFFF"/>
            </a:solidFill>
          </p:spPr>
        </p:sp>
        <p:sp>
          <p:nvSpPr>
            <p:cNvPr name="TextBox 4" id="4"/>
            <p:cNvSpPr txBox="true"/>
            <p:nvPr/>
          </p:nvSpPr>
          <p:spPr>
            <a:xfrm>
              <a:off x="0" y="-38100"/>
              <a:ext cx="2168357" cy="198882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712082" y="4368510"/>
            <a:ext cx="7431918" cy="1803900"/>
          </a:xfrm>
          <a:prstGeom prst="rect">
            <a:avLst/>
          </a:prstGeom>
        </p:spPr>
        <p:txBody>
          <a:bodyPr anchor="t" rtlCol="false" tIns="0" lIns="0" bIns="0" rIns="0">
            <a:spAutoFit/>
          </a:bodyPr>
          <a:lstStyle/>
          <a:p>
            <a:pPr algn="l">
              <a:lnSpc>
                <a:spcPts val="2880"/>
              </a:lnSpc>
            </a:pPr>
            <a:r>
              <a:rPr lang="en-US" sz="1800">
                <a:solidFill>
                  <a:srgbClr val="D9D9D9"/>
                </a:solidFill>
                <a:latin typeface="Poppins"/>
                <a:ea typeface="Poppins"/>
                <a:cs typeface="Poppins"/>
                <a:sym typeface="Poppins"/>
              </a:rPr>
              <a:t>We will store the measured and predicted soil moisture data and compare them to evaluate the accuracy of the machine-learning model. We will use performance metrics such as mean absolute error and root mean square error to assess the accuracy of the model.</a:t>
            </a:r>
          </a:p>
        </p:txBody>
      </p:sp>
      <p:sp>
        <p:nvSpPr>
          <p:cNvPr name="AutoShape 6" id="6"/>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5400000">
            <a:off x="-1974906" y="1974906"/>
            <a:ext cx="4238545" cy="288733"/>
            <a:chOff x="0" y="0"/>
            <a:chExt cx="1116325" cy="76045"/>
          </a:xfrm>
        </p:grpSpPr>
        <p:sp>
          <p:nvSpPr>
            <p:cNvPr name="Freeform 9" id="9"/>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10" id="10"/>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1096496" y="3286666"/>
            <a:ext cx="5036068" cy="5567153"/>
          </a:xfrm>
          <a:custGeom>
            <a:avLst/>
            <a:gdLst/>
            <a:ahLst/>
            <a:cxnLst/>
            <a:rect r="r" b="b" t="t" l="l"/>
            <a:pathLst>
              <a:path h="5567153" w="5036068">
                <a:moveTo>
                  <a:pt x="0" y="0"/>
                </a:moveTo>
                <a:lnTo>
                  <a:pt x="5036068" y="0"/>
                </a:lnTo>
                <a:lnTo>
                  <a:pt x="5036068" y="5567153"/>
                </a:lnTo>
                <a:lnTo>
                  <a:pt x="0" y="5567153"/>
                </a:lnTo>
                <a:lnTo>
                  <a:pt x="0" y="0"/>
                </a:lnTo>
                <a:close/>
              </a:path>
            </a:pathLst>
          </a:custGeom>
          <a:blipFill>
            <a:blip r:embed="rId4"/>
            <a:stretch>
              <a:fillRect l="0" t="0" r="-4012" b="0"/>
            </a:stretch>
          </a:blipFill>
        </p:spPr>
      </p:sp>
      <p:sp>
        <p:nvSpPr>
          <p:cNvPr name="TextBox 12" id="12"/>
          <p:cNvSpPr txBox="true"/>
          <p:nvPr/>
        </p:nvSpPr>
        <p:spPr>
          <a:xfrm rot="0">
            <a:off x="1712082" y="1545749"/>
            <a:ext cx="8335955"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Results and Analysis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538952" y="2673052"/>
            <a:ext cx="5043059" cy="971612"/>
            <a:chOff x="0" y="0"/>
            <a:chExt cx="1328213" cy="255898"/>
          </a:xfrm>
        </p:grpSpPr>
        <p:sp>
          <p:nvSpPr>
            <p:cNvPr name="Freeform 3" id="3"/>
            <p:cNvSpPr/>
            <p:nvPr/>
          </p:nvSpPr>
          <p:spPr>
            <a:xfrm flipH="false" flipV="false" rot="0">
              <a:off x="0" y="0"/>
              <a:ext cx="1328213" cy="255898"/>
            </a:xfrm>
            <a:custGeom>
              <a:avLst/>
              <a:gdLst/>
              <a:ahLst/>
              <a:cxnLst/>
              <a:rect r="r" b="b" t="t" l="l"/>
              <a:pathLst>
                <a:path h="255898" w="1328213">
                  <a:moveTo>
                    <a:pt x="122813" y="0"/>
                  </a:moveTo>
                  <a:lnTo>
                    <a:pt x="1205400" y="0"/>
                  </a:lnTo>
                  <a:cubicBezTo>
                    <a:pt x="1237972" y="0"/>
                    <a:pt x="1269210" y="12939"/>
                    <a:pt x="1292242" y="35971"/>
                  </a:cubicBezTo>
                  <a:cubicBezTo>
                    <a:pt x="1315274" y="59003"/>
                    <a:pt x="1328213" y="90241"/>
                    <a:pt x="1328213" y="122813"/>
                  </a:cubicBezTo>
                  <a:lnTo>
                    <a:pt x="1328213" y="133085"/>
                  </a:lnTo>
                  <a:cubicBezTo>
                    <a:pt x="1328213" y="200913"/>
                    <a:pt x="1273228" y="255898"/>
                    <a:pt x="1205400" y="255898"/>
                  </a:cubicBezTo>
                  <a:lnTo>
                    <a:pt x="122813" y="255898"/>
                  </a:lnTo>
                  <a:cubicBezTo>
                    <a:pt x="90241" y="255898"/>
                    <a:pt x="59003" y="242959"/>
                    <a:pt x="35971" y="219927"/>
                  </a:cubicBezTo>
                  <a:cubicBezTo>
                    <a:pt x="12939" y="196895"/>
                    <a:pt x="0" y="165657"/>
                    <a:pt x="0" y="133085"/>
                  </a:cubicBezTo>
                  <a:lnTo>
                    <a:pt x="0" y="122813"/>
                  </a:lnTo>
                  <a:cubicBezTo>
                    <a:pt x="0" y="54985"/>
                    <a:pt x="54985" y="0"/>
                    <a:pt x="122813" y="0"/>
                  </a:cubicBezTo>
                  <a:close/>
                </a:path>
              </a:pathLst>
            </a:custGeom>
            <a:solidFill>
              <a:srgbClr val="3DCAB1"/>
            </a:solidFill>
          </p:spPr>
        </p:sp>
        <p:sp>
          <p:nvSpPr>
            <p:cNvPr name="TextBox 4" id="4"/>
            <p:cNvSpPr txBox="true"/>
            <p:nvPr/>
          </p:nvSpPr>
          <p:spPr>
            <a:xfrm>
              <a:off x="0" y="-38100"/>
              <a:ext cx="1328213" cy="293998"/>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203382" y="9383374"/>
            <a:ext cx="4668112"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Market Size</a:t>
            </a:r>
          </a:p>
        </p:txBody>
      </p:sp>
      <p:grpSp>
        <p:nvGrpSpPr>
          <p:cNvPr name="Group 6" id="6"/>
          <p:cNvGrpSpPr/>
          <p:nvPr/>
        </p:nvGrpSpPr>
        <p:grpSpPr>
          <a:xfrm rot="0">
            <a:off x="0" y="9999516"/>
            <a:ext cx="6212838" cy="288733"/>
            <a:chOff x="0" y="0"/>
            <a:chExt cx="1636303" cy="76045"/>
          </a:xfrm>
        </p:grpSpPr>
        <p:sp>
          <p:nvSpPr>
            <p:cNvPr name="Freeform 7" id="7"/>
            <p:cNvSpPr/>
            <p:nvPr/>
          </p:nvSpPr>
          <p:spPr>
            <a:xfrm flipH="false" flipV="false" rot="0">
              <a:off x="0" y="0"/>
              <a:ext cx="1636303" cy="76045"/>
            </a:xfrm>
            <a:custGeom>
              <a:avLst/>
              <a:gdLst/>
              <a:ahLst/>
              <a:cxnLst/>
              <a:rect r="r" b="b" t="t" l="l"/>
              <a:pathLst>
                <a:path h="76045" w="1636303">
                  <a:moveTo>
                    <a:pt x="0" y="0"/>
                  </a:moveTo>
                  <a:lnTo>
                    <a:pt x="1636303" y="0"/>
                  </a:lnTo>
                  <a:lnTo>
                    <a:pt x="1636303" y="76045"/>
                  </a:lnTo>
                  <a:lnTo>
                    <a:pt x="0" y="76045"/>
                  </a:lnTo>
                  <a:close/>
                </a:path>
              </a:pathLst>
            </a:custGeom>
            <a:solidFill>
              <a:srgbClr val="3DCAB1"/>
            </a:solidFill>
          </p:spPr>
        </p:sp>
        <p:sp>
          <p:nvSpPr>
            <p:cNvPr name="TextBox 8" id="8"/>
            <p:cNvSpPr txBox="true"/>
            <p:nvPr/>
          </p:nvSpPr>
          <p:spPr>
            <a:xfrm>
              <a:off x="0" y="-38100"/>
              <a:ext cx="1636303" cy="114145"/>
            </a:xfrm>
            <a:prstGeom prst="rect">
              <a:avLst/>
            </a:prstGeom>
          </p:spPr>
          <p:txBody>
            <a:bodyPr anchor="ctr" rtlCol="false" tIns="50800" lIns="50800" bIns="50800" rIns="50800"/>
            <a:lstStyle/>
            <a:p>
              <a:pPr algn="ctr">
                <a:lnSpc>
                  <a:spcPts val="2659"/>
                </a:lnSpc>
                <a:spcBef>
                  <a:spcPct val="0"/>
                </a:spcBef>
              </a:pPr>
            </a:p>
          </p:txBody>
        </p:sp>
      </p:grpSp>
      <p:sp>
        <p:nvSpPr>
          <p:cNvPr name="AutoShape 9" id="9"/>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TextBox 10" id="10"/>
          <p:cNvSpPr txBox="true"/>
          <p:nvPr/>
        </p:nvSpPr>
        <p:spPr>
          <a:xfrm rot="0">
            <a:off x="4496599" y="2885861"/>
            <a:ext cx="9070811" cy="461300"/>
          </a:xfrm>
          <a:prstGeom prst="rect">
            <a:avLst/>
          </a:prstGeom>
        </p:spPr>
        <p:txBody>
          <a:bodyPr anchor="t" rtlCol="false" tIns="0" lIns="0" bIns="0" rIns="0">
            <a:spAutoFit/>
          </a:bodyPr>
          <a:lstStyle/>
          <a:p>
            <a:pPr algn="ctr">
              <a:lnSpc>
                <a:spcPts val="3677"/>
              </a:lnSpc>
            </a:pPr>
            <a:r>
              <a:rPr lang="en-US" b="true" sz="2627">
                <a:solidFill>
                  <a:srgbClr val="FFFFFF"/>
                </a:solidFill>
                <a:latin typeface="Poppins Bold"/>
                <a:ea typeface="Poppins Bold"/>
                <a:cs typeface="Poppins Bold"/>
                <a:sym typeface="Poppins Bold"/>
              </a:rPr>
              <a:t>Experimental apparetus</a:t>
            </a:r>
          </a:p>
        </p:txBody>
      </p:sp>
      <p:sp>
        <p:nvSpPr>
          <p:cNvPr name="TextBox 11" id="11"/>
          <p:cNvSpPr txBox="true"/>
          <p:nvPr/>
        </p:nvSpPr>
        <p:spPr>
          <a:xfrm rot="0">
            <a:off x="9582521" y="5368689"/>
            <a:ext cx="2174555" cy="868680"/>
          </a:xfrm>
          <a:prstGeom prst="rect">
            <a:avLst/>
          </a:prstGeom>
        </p:spPr>
        <p:txBody>
          <a:bodyPr anchor="t" rtlCol="false" tIns="0" lIns="0" bIns="0" rIns="0">
            <a:spAutoFit/>
          </a:bodyPr>
          <a:lstStyle/>
          <a:p>
            <a:pPr algn="ctr">
              <a:lnSpc>
                <a:spcPts val="6719"/>
              </a:lnSpc>
            </a:pPr>
            <a:r>
              <a:rPr lang="en-US" b="true" sz="4800">
                <a:solidFill>
                  <a:srgbClr val="FFFFFF"/>
                </a:solidFill>
                <a:latin typeface="Poppins Bold"/>
                <a:ea typeface="Poppins Bold"/>
                <a:cs typeface="Poppins Bold"/>
                <a:sym typeface="Poppins Bold"/>
              </a:rPr>
              <a:t>150K+</a:t>
            </a:r>
          </a:p>
        </p:txBody>
      </p:sp>
      <p:sp>
        <p:nvSpPr>
          <p:cNvPr name="Freeform 12" id="12"/>
          <p:cNvSpPr/>
          <p:nvPr/>
        </p:nvSpPr>
        <p:spPr>
          <a:xfrm flipH="false" flipV="false" rot="0">
            <a:off x="12195281" y="7860423"/>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4043175" y="4720989"/>
            <a:ext cx="3322371" cy="971612"/>
            <a:chOff x="0" y="0"/>
            <a:chExt cx="875028" cy="255898"/>
          </a:xfrm>
        </p:grpSpPr>
        <p:sp>
          <p:nvSpPr>
            <p:cNvPr name="Freeform 14" id="14"/>
            <p:cNvSpPr/>
            <p:nvPr/>
          </p:nvSpPr>
          <p:spPr>
            <a:xfrm flipH="false" flipV="false" rot="0">
              <a:off x="0" y="0"/>
              <a:ext cx="875028" cy="255898"/>
            </a:xfrm>
            <a:custGeom>
              <a:avLst/>
              <a:gdLst/>
              <a:ahLst/>
              <a:cxnLst/>
              <a:rect r="r" b="b" t="t" l="l"/>
              <a:pathLst>
                <a:path h="255898" w="875028">
                  <a:moveTo>
                    <a:pt x="127949" y="0"/>
                  </a:moveTo>
                  <a:lnTo>
                    <a:pt x="747079" y="0"/>
                  </a:lnTo>
                  <a:cubicBezTo>
                    <a:pt x="817743" y="0"/>
                    <a:pt x="875028" y="57285"/>
                    <a:pt x="875028" y="127949"/>
                  </a:cubicBezTo>
                  <a:lnTo>
                    <a:pt x="875028" y="127949"/>
                  </a:lnTo>
                  <a:cubicBezTo>
                    <a:pt x="875028" y="198613"/>
                    <a:pt x="817743" y="255898"/>
                    <a:pt x="747079" y="255898"/>
                  </a:cubicBezTo>
                  <a:lnTo>
                    <a:pt x="127949" y="255898"/>
                  </a:lnTo>
                  <a:cubicBezTo>
                    <a:pt x="57285" y="255898"/>
                    <a:pt x="0" y="198613"/>
                    <a:pt x="0" y="127949"/>
                  </a:cubicBezTo>
                  <a:lnTo>
                    <a:pt x="0" y="127949"/>
                  </a:lnTo>
                  <a:cubicBezTo>
                    <a:pt x="0" y="57285"/>
                    <a:pt x="57285" y="0"/>
                    <a:pt x="127949" y="0"/>
                  </a:cubicBezTo>
                  <a:close/>
                </a:path>
              </a:pathLst>
            </a:custGeom>
            <a:solidFill>
              <a:srgbClr val="071C42"/>
            </a:solidFill>
          </p:spPr>
        </p:sp>
        <p:sp>
          <p:nvSpPr>
            <p:cNvPr name="TextBox 15" id="15"/>
            <p:cNvSpPr txBox="true"/>
            <p:nvPr/>
          </p:nvSpPr>
          <p:spPr>
            <a:xfrm>
              <a:off x="0" y="-38100"/>
              <a:ext cx="875028" cy="293998"/>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168955" y="4933798"/>
            <a:ext cx="9070811" cy="461233"/>
          </a:xfrm>
          <a:prstGeom prst="rect">
            <a:avLst/>
          </a:prstGeom>
        </p:spPr>
        <p:txBody>
          <a:bodyPr anchor="t" rtlCol="false" tIns="0" lIns="0" bIns="0" rIns="0">
            <a:spAutoFit/>
          </a:bodyPr>
          <a:lstStyle/>
          <a:p>
            <a:pPr algn="ctr">
              <a:lnSpc>
                <a:spcPts val="3677"/>
              </a:lnSpc>
            </a:pPr>
            <a:r>
              <a:rPr lang="en-US" b="true" sz="2627">
                <a:solidFill>
                  <a:srgbClr val="FFFFFF"/>
                </a:solidFill>
                <a:latin typeface="Poppins Bold"/>
                <a:ea typeface="Poppins Bold"/>
                <a:cs typeface="Poppins Bold"/>
                <a:sym typeface="Poppins Bold"/>
              </a:rPr>
              <a:t>Data set 1</a:t>
            </a:r>
          </a:p>
        </p:txBody>
      </p:sp>
      <p:grpSp>
        <p:nvGrpSpPr>
          <p:cNvPr name="Group 17" id="17"/>
          <p:cNvGrpSpPr/>
          <p:nvPr/>
        </p:nvGrpSpPr>
        <p:grpSpPr>
          <a:xfrm rot="0">
            <a:off x="10239765" y="4711947"/>
            <a:ext cx="3322371" cy="971612"/>
            <a:chOff x="0" y="0"/>
            <a:chExt cx="875028" cy="255898"/>
          </a:xfrm>
        </p:grpSpPr>
        <p:sp>
          <p:nvSpPr>
            <p:cNvPr name="Freeform 18" id="18"/>
            <p:cNvSpPr/>
            <p:nvPr/>
          </p:nvSpPr>
          <p:spPr>
            <a:xfrm flipH="false" flipV="false" rot="0">
              <a:off x="0" y="0"/>
              <a:ext cx="875028" cy="255898"/>
            </a:xfrm>
            <a:custGeom>
              <a:avLst/>
              <a:gdLst/>
              <a:ahLst/>
              <a:cxnLst/>
              <a:rect r="r" b="b" t="t" l="l"/>
              <a:pathLst>
                <a:path h="255898" w="875028">
                  <a:moveTo>
                    <a:pt x="127949" y="0"/>
                  </a:moveTo>
                  <a:lnTo>
                    <a:pt x="747079" y="0"/>
                  </a:lnTo>
                  <a:cubicBezTo>
                    <a:pt x="817743" y="0"/>
                    <a:pt x="875028" y="57285"/>
                    <a:pt x="875028" y="127949"/>
                  </a:cubicBezTo>
                  <a:lnTo>
                    <a:pt x="875028" y="127949"/>
                  </a:lnTo>
                  <a:cubicBezTo>
                    <a:pt x="875028" y="198613"/>
                    <a:pt x="817743" y="255898"/>
                    <a:pt x="747079" y="255898"/>
                  </a:cubicBezTo>
                  <a:lnTo>
                    <a:pt x="127949" y="255898"/>
                  </a:lnTo>
                  <a:cubicBezTo>
                    <a:pt x="57285" y="255898"/>
                    <a:pt x="0" y="198613"/>
                    <a:pt x="0" y="127949"/>
                  </a:cubicBezTo>
                  <a:lnTo>
                    <a:pt x="0" y="127949"/>
                  </a:lnTo>
                  <a:cubicBezTo>
                    <a:pt x="0" y="57285"/>
                    <a:pt x="57285" y="0"/>
                    <a:pt x="127949" y="0"/>
                  </a:cubicBezTo>
                  <a:close/>
                </a:path>
              </a:pathLst>
            </a:custGeom>
            <a:solidFill>
              <a:srgbClr val="3DCAB1"/>
            </a:solidFill>
          </p:spPr>
        </p:sp>
        <p:sp>
          <p:nvSpPr>
            <p:cNvPr name="TextBox 19" id="19"/>
            <p:cNvSpPr txBox="true"/>
            <p:nvPr/>
          </p:nvSpPr>
          <p:spPr>
            <a:xfrm>
              <a:off x="0" y="-38100"/>
              <a:ext cx="875028" cy="293998"/>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7365546" y="4924756"/>
            <a:ext cx="9070811" cy="461233"/>
          </a:xfrm>
          <a:prstGeom prst="rect">
            <a:avLst/>
          </a:prstGeom>
        </p:spPr>
        <p:txBody>
          <a:bodyPr anchor="t" rtlCol="false" tIns="0" lIns="0" bIns="0" rIns="0">
            <a:spAutoFit/>
          </a:bodyPr>
          <a:lstStyle/>
          <a:p>
            <a:pPr algn="ctr">
              <a:lnSpc>
                <a:spcPts val="3677"/>
              </a:lnSpc>
            </a:pPr>
            <a:r>
              <a:rPr lang="en-US" b="true" sz="2627">
                <a:solidFill>
                  <a:srgbClr val="FFFFFF"/>
                </a:solidFill>
                <a:latin typeface="Poppins Bold"/>
                <a:ea typeface="Poppins Bold"/>
                <a:cs typeface="Poppins Bold"/>
                <a:sym typeface="Poppins Bold"/>
              </a:rPr>
              <a:t>Sensor readings</a:t>
            </a:r>
          </a:p>
        </p:txBody>
      </p:sp>
      <p:grpSp>
        <p:nvGrpSpPr>
          <p:cNvPr name="Group 21" id="21"/>
          <p:cNvGrpSpPr/>
          <p:nvPr/>
        </p:nvGrpSpPr>
        <p:grpSpPr>
          <a:xfrm rot="0">
            <a:off x="1103889" y="6645101"/>
            <a:ext cx="3322371" cy="971612"/>
            <a:chOff x="0" y="0"/>
            <a:chExt cx="875028" cy="255898"/>
          </a:xfrm>
        </p:grpSpPr>
        <p:sp>
          <p:nvSpPr>
            <p:cNvPr name="Freeform 22" id="22"/>
            <p:cNvSpPr/>
            <p:nvPr/>
          </p:nvSpPr>
          <p:spPr>
            <a:xfrm flipH="false" flipV="false" rot="0">
              <a:off x="0" y="0"/>
              <a:ext cx="875028" cy="255898"/>
            </a:xfrm>
            <a:custGeom>
              <a:avLst/>
              <a:gdLst/>
              <a:ahLst/>
              <a:cxnLst/>
              <a:rect r="r" b="b" t="t" l="l"/>
              <a:pathLst>
                <a:path h="255898" w="875028">
                  <a:moveTo>
                    <a:pt x="127949" y="0"/>
                  </a:moveTo>
                  <a:lnTo>
                    <a:pt x="747079" y="0"/>
                  </a:lnTo>
                  <a:cubicBezTo>
                    <a:pt x="817743" y="0"/>
                    <a:pt x="875028" y="57285"/>
                    <a:pt x="875028" y="127949"/>
                  </a:cubicBezTo>
                  <a:lnTo>
                    <a:pt x="875028" y="127949"/>
                  </a:lnTo>
                  <a:cubicBezTo>
                    <a:pt x="875028" y="198613"/>
                    <a:pt x="817743" y="255898"/>
                    <a:pt x="747079" y="255898"/>
                  </a:cubicBezTo>
                  <a:lnTo>
                    <a:pt x="127949" y="255898"/>
                  </a:lnTo>
                  <a:cubicBezTo>
                    <a:pt x="57285" y="255898"/>
                    <a:pt x="0" y="198613"/>
                    <a:pt x="0" y="127949"/>
                  </a:cubicBezTo>
                  <a:lnTo>
                    <a:pt x="0" y="127949"/>
                  </a:lnTo>
                  <a:cubicBezTo>
                    <a:pt x="0" y="57285"/>
                    <a:pt x="57285" y="0"/>
                    <a:pt x="127949" y="0"/>
                  </a:cubicBezTo>
                  <a:close/>
                </a:path>
              </a:pathLst>
            </a:custGeom>
            <a:solidFill>
              <a:srgbClr val="38B6FF"/>
            </a:solidFill>
          </p:spPr>
        </p:sp>
        <p:sp>
          <p:nvSpPr>
            <p:cNvPr name="TextBox 23" id="23"/>
            <p:cNvSpPr txBox="true"/>
            <p:nvPr/>
          </p:nvSpPr>
          <p:spPr>
            <a:xfrm>
              <a:off x="0" y="-38100"/>
              <a:ext cx="875028" cy="293998"/>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770331" y="6857911"/>
            <a:ext cx="9070811" cy="461233"/>
          </a:xfrm>
          <a:prstGeom prst="rect">
            <a:avLst/>
          </a:prstGeom>
        </p:spPr>
        <p:txBody>
          <a:bodyPr anchor="t" rtlCol="false" tIns="0" lIns="0" bIns="0" rIns="0">
            <a:spAutoFit/>
          </a:bodyPr>
          <a:lstStyle/>
          <a:p>
            <a:pPr algn="ctr">
              <a:lnSpc>
                <a:spcPts val="3677"/>
              </a:lnSpc>
            </a:pPr>
            <a:r>
              <a:rPr lang="en-US" b="true" sz="2627">
                <a:solidFill>
                  <a:srgbClr val="FFFFFF"/>
                </a:solidFill>
                <a:latin typeface="Poppins Bold"/>
                <a:ea typeface="Poppins Bold"/>
                <a:cs typeface="Poppins Bold"/>
                <a:sym typeface="Poppins Bold"/>
              </a:rPr>
              <a:t>Graphs</a:t>
            </a:r>
          </a:p>
        </p:txBody>
      </p:sp>
      <p:grpSp>
        <p:nvGrpSpPr>
          <p:cNvPr name="Group 25" id="25"/>
          <p:cNvGrpSpPr/>
          <p:nvPr/>
        </p:nvGrpSpPr>
        <p:grpSpPr>
          <a:xfrm rot="0">
            <a:off x="7365546" y="6649575"/>
            <a:ext cx="3322371" cy="971612"/>
            <a:chOff x="0" y="0"/>
            <a:chExt cx="875028" cy="255898"/>
          </a:xfrm>
        </p:grpSpPr>
        <p:sp>
          <p:nvSpPr>
            <p:cNvPr name="Freeform 26" id="26"/>
            <p:cNvSpPr/>
            <p:nvPr/>
          </p:nvSpPr>
          <p:spPr>
            <a:xfrm flipH="false" flipV="false" rot="0">
              <a:off x="0" y="0"/>
              <a:ext cx="875028" cy="255898"/>
            </a:xfrm>
            <a:custGeom>
              <a:avLst/>
              <a:gdLst/>
              <a:ahLst/>
              <a:cxnLst/>
              <a:rect r="r" b="b" t="t" l="l"/>
              <a:pathLst>
                <a:path h="255898" w="875028">
                  <a:moveTo>
                    <a:pt x="127949" y="0"/>
                  </a:moveTo>
                  <a:lnTo>
                    <a:pt x="747079" y="0"/>
                  </a:lnTo>
                  <a:cubicBezTo>
                    <a:pt x="817743" y="0"/>
                    <a:pt x="875028" y="57285"/>
                    <a:pt x="875028" y="127949"/>
                  </a:cubicBezTo>
                  <a:lnTo>
                    <a:pt x="875028" y="127949"/>
                  </a:lnTo>
                  <a:cubicBezTo>
                    <a:pt x="875028" y="198613"/>
                    <a:pt x="817743" y="255898"/>
                    <a:pt x="747079" y="255898"/>
                  </a:cubicBezTo>
                  <a:lnTo>
                    <a:pt x="127949" y="255898"/>
                  </a:lnTo>
                  <a:cubicBezTo>
                    <a:pt x="57285" y="255898"/>
                    <a:pt x="0" y="198613"/>
                    <a:pt x="0" y="127949"/>
                  </a:cubicBezTo>
                  <a:lnTo>
                    <a:pt x="0" y="127949"/>
                  </a:lnTo>
                  <a:cubicBezTo>
                    <a:pt x="0" y="57285"/>
                    <a:pt x="57285" y="0"/>
                    <a:pt x="127949" y="0"/>
                  </a:cubicBezTo>
                  <a:close/>
                </a:path>
              </a:pathLst>
            </a:custGeom>
            <a:solidFill>
              <a:srgbClr val="071C42"/>
            </a:solidFill>
          </p:spPr>
        </p:sp>
        <p:sp>
          <p:nvSpPr>
            <p:cNvPr name="TextBox 27" id="27"/>
            <p:cNvSpPr txBox="true"/>
            <p:nvPr/>
          </p:nvSpPr>
          <p:spPr>
            <a:xfrm>
              <a:off x="0" y="-38100"/>
              <a:ext cx="875028" cy="293998"/>
            </a:xfrm>
            <a:prstGeom prst="rect">
              <a:avLst/>
            </a:prstGeom>
          </p:spPr>
          <p:txBody>
            <a:bodyPr anchor="ctr" rtlCol="false" tIns="50800" lIns="50800" bIns="50800" rIns="50800"/>
            <a:lstStyle/>
            <a:p>
              <a:pPr algn="ctr">
                <a:lnSpc>
                  <a:spcPts val="2659"/>
                </a:lnSpc>
                <a:spcBef>
                  <a:spcPct val="0"/>
                </a:spcBef>
              </a:pPr>
            </a:p>
          </p:txBody>
        </p:sp>
      </p:grpSp>
      <p:sp>
        <p:nvSpPr>
          <p:cNvPr name="TextBox 28" id="28"/>
          <p:cNvSpPr txBox="true"/>
          <p:nvPr/>
        </p:nvSpPr>
        <p:spPr>
          <a:xfrm rot="0">
            <a:off x="4491326" y="6862384"/>
            <a:ext cx="9070811" cy="461233"/>
          </a:xfrm>
          <a:prstGeom prst="rect">
            <a:avLst/>
          </a:prstGeom>
        </p:spPr>
        <p:txBody>
          <a:bodyPr anchor="t" rtlCol="false" tIns="0" lIns="0" bIns="0" rIns="0">
            <a:spAutoFit/>
          </a:bodyPr>
          <a:lstStyle/>
          <a:p>
            <a:pPr algn="ctr">
              <a:lnSpc>
                <a:spcPts val="3677"/>
              </a:lnSpc>
            </a:pPr>
            <a:r>
              <a:rPr lang="en-US" b="true" sz="2627">
                <a:solidFill>
                  <a:srgbClr val="FFFFFF"/>
                </a:solidFill>
                <a:latin typeface="Poppins Bold"/>
                <a:ea typeface="Poppins Bold"/>
                <a:cs typeface="Poppins Bold"/>
                <a:sym typeface="Poppins Bold"/>
              </a:rPr>
              <a:t>Data Predictions</a:t>
            </a:r>
          </a:p>
        </p:txBody>
      </p:sp>
      <p:grpSp>
        <p:nvGrpSpPr>
          <p:cNvPr name="Group 29" id="29"/>
          <p:cNvGrpSpPr/>
          <p:nvPr/>
        </p:nvGrpSpPr>
        <p:grpSpPr>
          <a:xfrm rot="0">
            <a:off x="7365546" y="8478437"/>
            <a:ext cx="3322371" cy="971612"/>
            <a:chOff x="0" y="0"/>
            <a:chExt cx="875028" cy="255898"/>
          </a:xfrm>
        </p:grpSpPr>
        <p:sp>
          <p:nvSpPr>
            <p:cNvPr name="Freeform 30" id="30"/>
            <p:cNvSpPr/>
            <p:nvPr/>
          </p:nvSpPr>
          <p:spPr>
            <a:xfrm flipH="false" flipV="false" rot="0">
              <a:off x="0" y="0"/>
              <a:ext cx="875028" cy="255898"/>
            </a:xfrm>
            <a:custGeom>
              <a:avLst/>
              <a:gdLst/>
              <a:ahLst/>
              <a:cxnLst/>
              <a:rect r="r" b="b" t="t" l="l"/>
              <a:pathLst>
                <a:path h="255898" w="875028">
                  <a:moveTo>
                    <a:pt x="127949" y="0"/>
                  </a:moveTo>
                  <a:lnTo>
                    <a:pt x="747079" y="0"/>
                  </a:lnTo>
                  <a:cubicBezTo>
                    <a:pt x="817743" y="0"/>
                    <a:pt x="875028" y="57285"/>
                    <a:pt x="875028" y="127949"/>
                  </a:cubicBezTo>
                  <a:lnTo>
                    <a:pt x="875028" y="127949"/>
                  </a:lnTo>
                  <a:cubicBezTo>
                    <a:pt x="875028" y="198613"/>
                    <a:pt x="817743" y="255898"/>
                    <a:pt x="747079" y="255898"/>
                  </a:cubicBezTo>
                  <a:lnTo>
                    <a:pt x="127949" y="255898"/>
                  </a:lnTo>
                  <a:cubicBezTo>
                    <a:pt x="57285" y="255898"/>
                    <a:pt x="0" y="198613"/>
                    <a:pt x="0" y="127949"/>
                  </a:cubicBezTo>
                  <a:lnTo>
                    <a:pt x="0" y="127949"/>
                  </a:lnTo>
                  <a:cubicBezTo>
                    <a:pt x="0" y="57285"/>
                    <a:pt x="57285" y="0"/>
                    <a:pt x="127949" y="0"/>
                  </a:cubicBezTo>
                  <a:close/>
                </a:path>
              </a:pathLst>
            </a:custGeom>
            <a:solidFill>
              <a:srgbClr val="38B6FF"/>
            </a:solidFill>
          </p:spPr>
        </p:sp>
        <p:sp>
          <p:nvSpPr>
            <p:cNvPr name="TextBox 31" id="31"/>
            <p:cNvSpPr txBox="true"/>
            <p:nvPr/>
          </p:nvSpPr>
          <p:spPr>
            <a:xfrm>
              <a:off x="0" y="-38100"/>
              <a:ext cx="875028" cy="293998"/>
            </a:xfrm>
            <a:prstGeom prst="rect">
              <a:avLst/>
            </a:prstGeom>
          </p:spPr>
          <p:txBody>
            <a:bodyPr anchor="ctr" rtlCol="false" tIns="50800" lIns="50800" bIns="50800" rIns="50800"/>
            <a:lstStyle/>
            <a:p>
              <a:pPr algn="ctr">
                <a:lnSpc>
                  <a:spcPts val="2659"/>
                </a:lnSpc>
                <a:spcBef>
                  <a:spcPct val="0"/>
                </a:spcBef>
              </a:pPr>
            </a:p>
          </p:txBody>
        </p:sp>
      </p:grpSp>
      <p:sp>
        <p:nvSpPr>
          <p:cNvPr name="TextBox 32" id="32"/>
          <p:cNvSpPr txBox="true"/>
          <p:nvPr/>
        </p:nvSpPr>
        <p:spPr>
          <a:xfrm rot="0">
            <a:off x="4491326" y="8691246"/>
            <a:ext cx="9070811" cy="461233"/>
          </a:xfrm>
          <a:prstGeom prst="rect">
            <a:avLst/>
          </a:prstGeom>
        </p:spPr>
        <p:txBody>
          <a:bodyPr anchor="t" rtlCol="false" tIns="0" lIns="0" bIns="0" rIns="0">
            <a:spAutoFit/>
          </a:bodyPr>
          <a:lstStyle/>
          <a:p>
            <a:pPr algn="ctr">
              <a:lnSpc>
                <a:spcPts val="3677"/>
              </a:lnSpc>
            </a:pPr>
            <a:r>
              <a:rPr lang="en-US" b="true" sz="2627">
                <a:solidFill>
                  <a:srgbClr val="FFFFFF"/>
                </a:solidFill>
                <a:latin typeface="Poppins Bold"/>
                <a:ea typeface="Poppins Bold"/>
                <a:cs typeface="Poppins Bold"/>
                <a:sym typeface="Poppins Bold"/>
              </a:rPr>
              <a:t>Error Analysis</a:t>
            </a:r>
          </a:p>
        </p:txBody>
      </p:sp>
      <p:sp>
        <p:nvSpPr>
          <p:cNvPr name="AutoShape 33" id="33"/>
          <p:cNvSpPr/>
          <p:nvPr/>
        </p:nvSpPr>
        <p:spPr>
          <a:xfrm flipH="true">
            <a:off x="5704360" y="3644664"/>
            <a:ext cx="2312404" cy="1076325"/>
          </a:xfrm>
          <a:prstGeom prst="line">
            <a:avLst/>
          </a:prstGeom>
          <a:ln cap="flat" w="38100">
            <a:solidFill>
              <a:srgbClr val="071C42"/>
            </a:solidFill>
            <a:prstDash val="solid"/>
            <a:headEnd type="none" len="sm" w="sm"/>
            <a:tailEnd type="triangle" len="med" w="lg"/>
          </a:ln>
        </p:spPr>
      </p:sp>
      <p:sp>
        <p:nvSpPr>
          <p:cNvPr name="AutoShape 34" id="34"/>
          <p:cNvSpPr/>
          <p:nvPr/>
        </p:nvSpPr>
        <p:spPr>
          <a:xfrm flipH="true">
            <a:off x="9007681" y="7525937"/>
            <a:ext cx="0" cy="952500"/>
          </a:xfrm>
          <a:prstGeom prst="line">
            <a:avLst/>
          </a:prstGeom>
          <a:ln cap="flat" w="38100">
            <a:solidFill>
              <a:srgbClr val="071C42"/>
            </a:solidFill>
            <a:prstDash val="solid"/>
            <a:headEnd type="none" len="sm" w="sm"/>
            <a:tailEnd type="triangle" len="med" w="lg"/>
          </a:ln>
        </p:spPr>
      </p:sp>
      <p:sp>
        <p:nvSpPr>
          <p:cNvPr name="AutoShape 35" id="35"/>
          <p:cNvSpPr/>
          <p:nvPr/>
        </p:nvSpPr>
        <p:spPr>
          <a:xfrm flipH="true">
            <a:off x="2765075" y="5692601"/>
            <a:ext cx="2939285" cy="952500"/>
          </a:xfrm>
          <a:prstGeom prst="line">
            <a:avLst/>
          </a:prstGeom>
          <a:ln cap="flat" w="38100">
            <a:solidFill>
              <a:srgbClr val="071C42"/>
            </a:solidFill>
            <a:prstDash val="solid"/>
            <a:headEnd type="none" len="sm" w="sm"/>
            <a:tailEnd type="triangle" len="med" w="lg"/>
          </a:ln>
        </p:spPr>
      </p:sp>
      <p:sp>
        <p:nvSpPr>
          <p:cNvPr name="AutoShape 36" id="36"/>
          <p:cNvSpPr/>
          <p:nvPr/>
        </p:nvSpPr>
        <p:spPr>
          <a:xfrm>
            <a:off x="5704360" y="5692601"/>
            <a:ext cx="3322371" cy="956974"/>
          </a:xfrm>
          <a:prstGeom prst="line">
            <a:avLst/>
          </a:prstGeom>
          <a:ln cap="flat" w="38100">
            <a:solidFill>
              <a:srgbClr val="071C42"/>
            </a:solidFill>
            <a:prstDash val="solid"/>
            <a:headEnd type="none" len="sm" w="sm"/>
            <a:tailEnd type="triangle" len="med" w="lg"/>
          </a:ln>
        </p:spPr>
      </p:sp>
      <p:sp>
        <p:nvSpPr>
          <p:cNvPr name="AutoShape 37" id="37"/>
          <p:cNvSpPr/>
          <p:nvPr/>
        </p:nvSpPr>
        <p:spPr>
          <a:xfrm flipH="true">
            <a:off x="9037877" y="5674479"/>
            <a:ext cx="2939285" cy="952500"/>
          </a:xfrm>
          <a:prstGeom prst="line">
            <a:avLst/>
          </a:prstGeom>
          <a:ln cap="flat" w="38100">
            <a:solidFill>
              <a:srgbClr val="071C42"/>
            </a:solidFill>
            <a:prstDash val="solid"/>
            <a:headEnd type="none" len="sm" w="sm"/>
            <a:tailEnd type="triangle" len="med" w="lg"/>
          </a:ln>
        </p:spPr>
      </p:sp>
      <p:grpSp>
        <p:nvGrpSpPr>
          <p:cNvPr name="Group 38" id="38"/>
          <p:cNvGrpSpPr/>
          <p:nvPr/>
        </p:nvGrpSpPr>
        <p:grpSpPr>
          <a:xfrm rot="0">
            <a:off x="13861740" y="6631636"/>
            <a:ext cx="3322371" cy="971612"/>
            <a:chOff x="0" y="0"/>
            <a:chExt cx="875028" cy="255898"/>
          </a:xfrm>
        </p:grpSpPr>
        <p:sp>
          <p:nvSpPr>
            <p:cNvPr name="Freeform 39" id="39"/>
            <p:cNvSpPr/>
            <p:nvPr/>
          </p:nvSpPr>
          <p:spPr>
            <a:xfrm flipH="false" flipV="false" rot="0">
              <a:off x="0" y="0"/>
              <a:ext cx="875028" cy="255898"/>
            </a:xfrm>
            <a:custGeom>
              <a:avLst/>
              <a:gdLst/>
              <a:ahLst/>
              <a:cxnLst/>
              <a:rect r="r" b="b" t="t" l="l"/>
              <a:pathLst>
                <a:path h="255898" w="875028">
                  <a:moveTo>
                    <a:pt x="127949" y="0"/>
                  </a:moveTo>
                  <a:lnTo>
                    <a:pt x="747079" y="0"/>
                  </a:lnTo>
                  <a:cubicBezTo>
                    <a:pt x="817743" y="0"/>
                    <a:pt x="875028" y="57285"/>
                    <a:pt x="875028" y="127949"/>
                  </a:cubicBezTo>
                  <a:lnTo>
                    <a:pt x="875028" y="127949"/>
                  </a:lnTo>
                  <a:cubicBezTo>
                    <a:pt x="875028" y="198613"/>
                    <a:pt x="817743" y="255898"/>
                    <a:pt x="747079" y="255898"/>
                  </a:cubicBezTo>
                  <a:lnTo>
                    <a:pt x="127949" y="255898"/>
                  </a:lnTo>
                  <a:cubicBezTo>
                    <a:pt x="57285" y="255898"/>
                    <a:pt x="0" y="198613"/>
                    <a:pt x="0" y="127949"/>
                  </a:cubicBezTo>
                  <a:lnTo>
                    <a:pt x="0" y="127949"/>
                  </a:lnTo>
                  <a:cubicBezTo>
                    <a:pt x="0" y="57285"/>
                    <a:pt x="57285" y="0"/>
                    <a:pt x="127949" y="0"/>
                  </a:cubicBezTo>
                  <a:close/>
                </a:path>
              </a:pathLst>
            </a:custGeom>
            <a:solidFill>
              <a:srgbClr val="38B6FF"/>
            </a:solidFill>
          </p:spPr>
        </p:sp>
        <p:sp>
          <p:nvSpPr>
            <p:cNvPr name="TextBox 40" id="40"/>
            <p:cNvSpPr txBox="true"/>
            <p:nvPr/>
          </p:nvSpPr>
          <p:spPr>
            <a:xfrm>
              <a:off x="0" y="-38100"/>
              <a:ext cx="875028" cy="293998"/>
            </a:xfrm>
            <a:prstGeom prst="rect">
              <a:avLst/>
            </a:prstGeom>
          </p:spPr>
          <p:txBody>
            <a:bodyPr anchor="ctr" rtlCol="false" tIns="50800" lIns="50800" bIns="50800" rIns="50800"/>
            <a:lstStyle/>
            <a:p>
              <a:pPr algn="ctr">
                <a:lnSpc>
                  <a:spcPts val="2659"/>
                </a:lnSpc>
                <a:spcBef>
                  <a:spcPct val="0"/>
                </a:spcBef>
              </a:pPr>
            </a:p>
          </p:txBody>
        </p:sp>
      </p:grpSp>
      <p:sp>
        <p:nvSpPr>
          <p:cNvPr name="TextBox 41" id="41"/>
          <p:cNvSpPr txBox="true"/>
          <p:nvPr/>
        </p:nvSpPr>
        <p:spPr>
          <a:xfrm rot="0">
            <a:off x="10987520" y="6844445"/>
            <a:ext cx="9070811" cy="461233"/>
          </a:xfrm>
          <a:prstGeom prst="rect">
            <a:avLst/>
          </a:prstGeom>
        </p:spPr>
        <p:txBody>
          <a:bodyPr anchor="t" rtlCol="false" tIns="0" lIns="0" bIns="0" rIns="0">
            <a:spAutoFit/>
          </a:bodyPr>
          <a:lstStyle/>
          <a:p>
            <a:pPr algn="ctr">
              <a:lnSpc>
                <a:spcPts val="3677"/>
              </a:lnSpc>
            </a:pPr>
            <a:r>
              <a:rPr lang="en-US" b="true" sz="2627">
                <a:solidFill>
                  <a:srgbClr val="FFFFFF"/>
                </a:solidFill>
                <a:latin typeface="Poppins Bold"/>
                <a:ea typeface="Poppins Bold"/>
                <a:cs typeface="Poppins Bold"/>
                <a:sym typeface="Poppins Bold"/>
              </a:rPr>
              <a:t>Motor</a:t>
            </a:r>
          </a:p>
        </p:txBody>
      </p:sp>
      <p:sp>
        <p:nvSpPr>
          <p:cNvPr name="AutoShape 42" id="42"/>
          <p:cNvSpPr/>
          <p:nvPr/>
        </p:nvSpPr>
        <p:spPr>
          <a:xfrm>
            <a:off x="12200554" y="5674662"/>
            <a:ext cx="3322371" cy="956974"/>
          </a:xfrm>
          <a:prstGeom prst="line">
            <a:avLst/>
          </a:prstGeom>
          <a:ln cap="flat" w="38100">
            <a:solidFill>
              <a:srgbClr val="071C42"/>
            </a:solidFill>
            <a:prstDash val="solid"/>
            <a:headEnd type="none" len="sm" w="sm"/>
            <a:tailEnd type="triangle" len="med" w="lg"/>
          </a:ln>
        </p:spPr>
      </p:sp>
      <p:sp>
        <p:nvSpPr>
          <p:cNvPr name="TextBox 43" id="43"/>
          <p:cNvSpPr txBox="true"/>
          <p:nvPr/>
        </p:nvSpPr>
        <p:spPr>
          <a:xfrm rot="0">
            <a:off x="1221496" y="1456808"/>
            <a:ext cx="9761815" cy="904794"/>
          </a:xfrm>
          <a:prstGeom prst="rect">
            <a:avLst/>
          </a:prstGeom>
        </p:spPr>
        <p:txBody>
          <a:bodyPr anchor="t" rtlCol="false" tIns="0" lIns="0" bIns="0" rIns="0">
            <a:spAutoFit/>
          </a:bodyPr>
          <a:lstStyle/>
          <a:p>
            <a:pPr algn="l">
              <a:lnSpc>
                <a:spcPts val="6719"/>
              </a:lnSpc>
            </a:pPr>
            <a:r>
              <a:rPr lang="en-US" sz="5599" b="true">
                <a:solidFill>
                  <a:srgbClr val="071C42"/>
                </a:solidFill>
                <a:latin typeface="Poppins Bold"/>
                <a:ea typeface="Poppins Bold"/>
                <a:cs typeface="Poppins Bold"/>
                <a:sym typeface="Poppins Bold"/>
              </a:rPr>
              <a:t>Summary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TextBox 2" id="2"/>
          <p:cNvSpPr txBox="true"/>
          <p:nvPr/>
        </p:nvSpPr>
        <p:spPr>
          <a:xfrm rot="0">
            <a:off x="1712082" y="3326924"/>
            <a:ext cx="14979273" cy="3203575"/>
          </a:xfrm>
          <a:prstGeom prst="rect">
            <a:avLst/>
          </a:prstGeom>
        </p:spPr>
        <p:txBody>
          <a:bodyPr anchor="t" rtlCol="false" tIns="0" lIns="0" bIns="0" rIns="0">
            <a:spAutoFit/>
          </a:bodyPr>
          <a:lstStyle/>
          <a:p>
            <a:pPr algn="l">
              <a:lnSpc>
                <a:spcPts val="3200"/>
              </a:lnSpc>
            </a:pPr>
            <a:r>
              <a:rPr lang="en-US" sz="2000">
                <a:solidFill>
                  <a:srgbClr val="D9D9D9"/>
                </a:solidFill>
                <a:latin typeface="Poppins"/>
                <a:ea typeface="Poppins"/>
                <a:cs typeface="Poppins"/>
                <a:sym typeface="Poppins"/>
              </a:rPr>
              <a:t>The conclusion of this project is that we have successfully developed an irrigation system using Arduino and Python, which can predict soil moisture based on temperature, humidity, and solar radiation values. We have achieved this by developing a machine learning model using Python and trained it with the data collected from various sensors connected to the Arduino board. This system can be used to automatically water plants and crops, and it can be controlled remotely. Additionally, we have identified the errors in the model by comparing the predicted values with the actual values measured by the sensors, and we can improve the accuracy of the system by fine-tuning the machine learning model. Overall, this system can be useful for farmers and gardeners who want to optimize their irrigation process and conserve water resources.</a:t>
            </a:r>
          </a:p>
        </p:txBody>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4" id="4"/>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5400000">
            <a:off x="-1974906" y="1974906"/>
            <a:ext cx="4238545" cy="288733"/>
            <a:chOff x="0" y="0"/>
            <a:chExt cx="1116325" cy="76045"/>
          </a:xfrm>
        </p:grpSpPr>
        <p:sp>
          <p:nvSpPr>
            <p:cNvPr name="Freeform 6" id="6"/>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7" id="7"/>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712082" y="1545749"/>
            <a:ext cx="8335955"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Conclusion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TextBox 2" id="2"/>
          <p:cNvSpPr txBox="true"/>
          <p:nvPr/>
        </p:nvSpPr>
        <p:spPr>
          <a:xfrm rot="0">
            <a:off x="1649435" y="4407698"/>
            <a:ext cx="14989129" cy="2420984"/>
          </a:xfrm>
          <a:prstGeom prst="rect">
            <a:avLst/>
          </a:prstGeom>
        </p:spPr>
        <p:txBody>
          <a:bodyPr anchor="t" rtlCol="false" tIns="0" lIns="0" bIns="0" rIns="0">
            <a:spAutoFit/>
          </a:bodyPr>
          <a:lstStyle/>
          <a:p>
            <a:pPr algn="l">
              <a:lnSpc>
                <a:spcPts val="3840"/>
              </a:lnSpc>
            </a:pPr>
            <a:r>
              <a:rPr lang="en-US" sz="2400">
                <a:solidFill>
                  <a:srgbClr val="D9D9D9"/>
                </a:solidFill>
                <a:latin typeface="Poppins"/>
                <a:ea typeface="Poppins"/>
                <a:cs typeface="Poppins"/>
                <a:sym typeface="Poppins"/>
              </a:rPr>
              <a:t>In the future, we plan to implement time-series prediction based on our developed model, which will enable us to forecast soil moisture levels. By utilizing such predictions, we can detect any potential threats to the crop and use the irrigation system more efficiently. Furthermore, we may incorporate additional environmental variables, such as wind speed, rainfall, and atmospheric pressure, to enhance the accuracy of our prediction model.</a:t>
            </a:r>
          </a:p>
        </p:txBody>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4" id="4"/>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5400000">
            <a:off x="-1974906" y="1974906"/>
            <a:ext cx="4238545" cy="288733"/>
            <a:chOff x="0" y="0"/>
            <a:chExt cx="1116325" cy="76045"/>
          </a:xfrm>
        </p:grpSpPr>
        <p:sp>
          <p:nvSpPr>
            <p:cNvPr name="Freeform 6" id="6"/>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7" id="7"/>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712082" y="1545749"/>
            <a:ext cx="8335955"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Future directions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Freeform 2" id="2"/>
          <p:cNvSpPr/>
          <p:nvPr/>
        </p:nvSpPr>
        <p:spPr>
          <a:xfrm flipH="false" flipV="false" rot="0">
            <a:off x="11785830" y="-497732"/>
            <a:ext cx="10946941" cy="8896877"/>
          </a:xfrm>
          <a:custGeom>
            <a:avLst/>
            <a:gdLst/>
            <a:ahLst/>
            <a:cxnLst/>
            <a:rect r="r" b="b" t="t" l="l"/>
            <a:pathLst>
              <a:path h="8896877" w="10946941">
                <a:moveTo>
                  <a:pt x="0" y="0"/>
                </a:moveTo>
                <a:lnTo>
                  <a:pt x="10946940" y="0"/>
                </a:lnTo>
                <a:lnTo>
                  <a:pt x="10946940"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243554" y="-1718684"/>
            <a:ext cx="5643741" cy="4114800"/>
          </a:xfrm>
          <a:custGeom>
            <a:avLst/>
            <a:gdLst/>
            <a:ahLst/>
            <a:cxnLst/>
            <a:rect r="r" b="b" t="t" l="l"/>
            <a:pathLst>
              <a:path h="4114800" w="5643741">
                <a:moveTo>
                  <a:pt x="0" y="0"/>
                </a:moveTo>
                <a:lnTo>
                  <a:pt x="5643740" y="0"/>
                </a:lnTo>
                <a:lnTo>
                  <a:pt x="564374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323401" y="4217035"/>
            <a:ext cx="11641197" cy="1595756"/>
          </a:xfrm>
          <a:prstGeom prst="rect">
            <a:avLst/>
          </a:prstGeom>
        </p:spPr>
        <p:txBody>
          <a:bodyPr anchor="t" rtlCol="false" tIns="0" lIns="0" bIns="0" rIns="0">
            <a:spAutoFit/>
          </a:bodyPr>
          <a:lstStyle/>
          <a:p>
            <a:pPr algn="ctr">
              <a:lnSpc>
                <a:spcPts val="12319"/>
              </a:lnSpc>
            </a:pPr>
            <a:r>
              <a:rPr lang="en-US" b="true" sz="8799" spc="-149">
                <a:solidFill>
                  <a:srgbClr val="FFFFFF"/>
                </a:solidFill>
                <a:latin typeface="Poppins Bold"/>
                <a:ea typeface="Poppins Bold"/>
                <a:cs typeface="Poppins Bold"/>
                <a:sym typeface="Poppins Bold"/>
              </a:rPr>
              <a:t>THANK YOU!</a:t>
            </a:r>
          </a:p>
        </p:txBody>
      </p:sp>
      <p:grpSp>
        <p:nvGrpSpPr>
          <p:cNvPr name="Group 5" id="5"/>
          <p:cNvGrpSpPr/>
          <p:nvPr/>
        </p:nvGrpSpPr>
        <p:grpSpPr>
          <a:xfrm rot="0">
            <a:off x="15944907" y="9673111"/>
            <a:ext cx="2400186" cy="613889"/>
            <a:chOff x="0" y="0"/>
            <a:chExt cx="632148" cy="161683"/>
          </a:xfrm>
        </p:grpSpPr>
        <p:sp>
          <p:nvSpPr>
            <p:cNvPr name="Freeform 6" id="6"/>
            <p:cNvSpPr/>
            <p:nvPr/>
          </p:nvSpPr>
          <p:spPr>
            <a:xfrm flipH="false" flipV="false" rot="0">
              <a:off x="0" y="0"/>
              <a:ext cx="632148" cy="161683"/>
            </a:xfrm>
            <a:custGeom>
              <a:avLst/>
              <a:gdLst/>
              <a:ahLst/>
              <a:cxnLst/>
              <a:rect r="r" b="b" t="t" l="l"/>
              <a:pathLst>
                <a:path h="161683" w="632148">
                  <a:moveTo>
                    <a:pt x="0" y="0"/>
                  </a:moveTo>
                  <a:lnTo>
                    <a:pt x="632148" y="0"/>
                  </a:lnTo>
                  <a:lnTo>
                    <a:pt x="632148" y="161683"/>
                  </a:lnTo>
                  <a:lnTo>
                    <a:pt x="0" y="161683"/>
                  </a:lnTo>
                  <a:close/>
                </a:path>
              </a:pathLst>
            </a:custGeom>
            <a:solidFill>
              <a:srgbClr val="3DCAB1"/>
            </a:solidFill>
          </p:spPr>
        </p:sp>
        <p:sp>
          <p:nvSpPr>
            <p:cNvPr name="TextBox 7" id="7"/>
            <p:cNvSpPr txBox="true"/>
            <p:nvPr/>
          </p:nvSpPr>
          <p:spPr>
            <a:xfrm>
              <a:off x="0" y="-38100"/>
              <a:ext cx="632148" cy="199783"/>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5450057" y="9759076"/>
            <a:ext cx="3389886" cy="356235"/>
          </a:xfrm>
          <a:prstGeom prst="rect">
            <a:avLst/>
          </a:prstGeom>
        </p:spPr>
        <p:txBody>
          <a:bodyPr anchor="t" rtlCol="false" tIns="0" lIns="0" bIns="0" rIns="0">
            <a:spAutoFit/>
          </a:bodyPr>
          <a:lstStyle/>
          <a:p>
            <a:pPr algn="ctr">
              <a:lnSpc>
                <a:spcPts val="2880"/>
              </a:lnSpc>
            </a:pPr>
            <a:r>
              <a:rPr lang="en-US" sz="1800">
                <a:solidFill>
                  <a:srgbClr val="071C42"/>
                </a:solidFill>
                <a:latin typeface="Poppins"/>
                <a:ea typeface="Poppins"/>
                <a:cs typeface="Poppins"/>
                <a:sym typeface="Poppins"/>
              </a:rPr>
              <a:t>2023.04.27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DAFhIFXZp2U</dc:identifier>
  <dcterms:modified xsi:type="dcterms:W3CDTF">2011-08-01T06:04:30Z</dcterms:modified>
  <cp:revision>1</cp:revision>
  <dc:title>Black and Red Geometric Technology Keynote Presentation</dc:title>
</cp:coreProperties>
</file>